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32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502920" cy="50292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EXIT DECK</a:t>
            </a:r>
            <a:endParaRPr lang="en-US" sz="4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41248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9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slide-by-slide structure of the presentation that sold AutoDS.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9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your numbers. Get buyer-ready.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life is beta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0" y="5989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Lior Pozin  ·  CEO &amp; Co-Founder of AutoDS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566160" cy="402336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— REMOVE BEFORE PUBLISHING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me first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7863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is the SANITIZED template of the original sale presentation. Every real number, name, and data point was replaced with a [PLACEHOLDER].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PDF must never be shared, screenshotted, shown on camera, or referenced visually. Only this template ships as the lead magnet.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slides are marked INTERNAL: this one and the hard-rules slide at the end. Delete both from the public version.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public wrapper facts for promo copy: sold to Fiverr, the $92M exit, bootstrapped, founder-owned, two co-founders, built from Lior's own eBay automation.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team size comes up in promo copy, the approved public number is 250 employees.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869680" y="1965960"/>
            <a:ext cx="2743200" cy="393192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! ]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052560" y="3108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only.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the real deck.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the real numbers.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use this template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 of orientation before you build.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167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order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56946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 sections are sequenced to earn the buyer's trust before showing numbers. Keep the order.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167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every [PLACEHOLDER]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56946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slide lists exactly what to fill in. If you don't have a number yet, that gap is your homework.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23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commentary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44398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chart in the original carried a plain-language note on how the metric is calculated. Buyers distrust charts with hidden methodology.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023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2376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what you can't defend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444398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slide you can't back up in diligence is worse than no slide. Conservative and consistent beats impressive.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 of this deck: the exact structure that got a bootstrapped company acquired. Structure is the transferable part.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[ 0.2 ]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9-section spine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read in this order. Every section earns the next one.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11880" cy="1170432"/>
          </a:xfrm>
          <a:prstGeom prst="roundRect">
            <a:avLst>
              <a:gd name="adj" fmla="val 3906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66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25880" y="2075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24688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story in 8 slides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70832" y="1920240"/>
            <a:ext cx="3611880" cy="1170432"/>
          </a:xfrm>
          <a:prstGeom prst="roundRect">
            <a:avLst>
              <a:gd name="adj" fmla="val 3906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066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148072" y="2075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48072" y="24688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market makes you inevitable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93024" y="1920240"/>
            <a:ext cx="3611880" cy="1170432"/>
          </a:xfrm>
          <a:prstGeom prst="roundRect">
            <a:avLst>
              <a:gd name="adj" fmla="val 3906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2066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970264" y="2075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&amp; Technology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970264" y="24688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product actually does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3611880" cy="1170432"/>
          </a:xfrm>
          <a:prstGeom prst="roundRect">
            <a:avLst>
              <a:gd name="adj" fmla="val 3906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438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325880" y="34472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25880" y="38404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it scales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70832" y="3291840"/>
            <a:ext cx="3611880" cy="1170432"/>
          </a:xfrm>
          <a:prstGeom prst="roundRect">
            <a:avLst>
              <a:gd name="adj" fmla="val 3906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438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148072" y="34472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48072" y="38404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win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93024" y="3291840"/>
            <a:ext cx="3611880" cy="1170432"/>
          </a:xfrm>
          <a:prstGeom prst="roundRect">
            <a:avLst>
              <a:gd name="adj" fmla="val 3906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438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970264" y="34472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&amp; Marketing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970264" y="38404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engine + unit economics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3611880" cy="1170432"/>
          </a:xfrm>
          <a:prstGeom prst="roundRect">
            <a:avLst>
              <a:gd name="adj" fmla="val 3906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8097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325880" y="48188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Growth Drivers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25880" y="52120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buyer's money buys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70832" y="4663440"/>
            <a:ext cx="3611880" cy="1170432"/>
          </a:xfrm>
          <a:prstGeom prst="roundRect">
            <a:avLst>
              <a:gd name="adj" fmla="val 3906"/>
            </a:avLst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8097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5148072" y="48188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Transaction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148072" y="52120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behind the product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93024" y="4663440"/>
            <a:ext cx="3611880" cy="1170432"/>
          </a:xfrm>
          <a:prstGeom prst="roundRect">
            <a:avLst>
              <a:gd name="adj" fmla="val 3906"/>
            </a:avLst>
          </a:prstGeom>
          <a:solidFill>
            <a:srgbClr val="292B2E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94192" y="48097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8970264" y="48188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970264" y="52120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numbers. Last on purpose.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come last. The first 60 pages earn the right to show them. A buyer who arrives at the numbers already convinced reads them differently.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[ 1.1 ]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 at-a-Glance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slide, four quadrants. A buyer understands the whole business in 60 seconds.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Overview: 4-5 bullets. What you do, who you serve, your unfair positioning with the biggest platform in your space.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stats: [TEAM SIZE] · [OWNERSHIP: founder-owned, bootstrapped] · [REVENUE MODEL + % SPLIT] · [ACTIVE PAYING CUSTOMERS]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[TAM TODAY / TAM IN 5 YEARS] · [REVIEW RATING + COUNT] · [HQ + REMOTE FOOTPRINT]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chart: revenue + profit bars, last 2 actual years plus current-year estimate.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teaser: your single best repeatable-economics chart.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698498"/>
            <a:ext cx="2285268" cy="182422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698498"/>
            <a:ext cx="2285268" cy="18242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 OVERVIEW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810085" y="2219706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0085" y="2458593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4" name="Shape 12"/>
          <p:cNvSpPr/>
          <p:nvPr/>
        </p:nvSpPr>
        <p:spPr>
          <a:xfrm>
            <a:off x="6810085" y="2697480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810085" y="2936367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810085" y="3175254"/>
            <a:ext cx="119145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7292" y="1698498"/>
            <a:ext cx="2285268" cy="182422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7292" y="1698498"/>
            <a:ext cx="2285268" cy="18242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STATS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303106" y="2219706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0" name="Shape 18"/>
          <p:cNvSpPr/>
          <p:nvPr/>
        </p:nvSpPr>
        <p:spPr>
          <a:xfrm>
            <a:off x="9303106" y="2458593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1" name="Shape 19"/>
          <p:cNvSpPr/>
          <p:nvPr/>
        </p:nvSpPr>
        <p:spPr>
          <a:xfrm>
            <a:off x="9303106" y="2697480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2" name="Shape 20"/>
          <p:cNvSpPr/>
          <p:nvPr/>
        </p:nvSpPr>
        <p:spPr>
          <a:xfrm>
            <a:off x="9303106" y="2936367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3" name="Shape 21"/>
          <p:cNvSpPr/>
          <p:nvPr/>
        </p:nvSpPr>
        <p:spPr>
          <a:xfrm>
            <a:off x="9303106" y="3175254"/>
            <a:ext cx="119145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4" name="Shape 22"/>
          <p:cNvSpPr/>
          <p:nvPr/>
        </p:nvSpPr>
        <p:spPr>
          <a:xfrm>
            <a:off x="6654272" y="3739896"/>
            <a:ext cx="2285268" cy="186766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4272" y="3739896"/>
            <a:ext cx="2285268" cy="18676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78884" y="4964735"/>
            <a:ext cx="389534" cy="425653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602139" y="4660697"/>
            <a:ext cx="389534" cy="729691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5394" y="4174236"/>
            <a:ext cx="389534" cy="1216152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7292" y="3739896"/>
            <a:ext cx="2285268" cy="186766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7292" y="3739896"/>
            <a:ext cx="2285268" cy="18676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ECONOMICS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413474" y="4782312"/>
            <a:ext cx="194767" cy="608076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32" name="Shape 30"/>
          <p:cNvSpPr/>
          <p:nvPr/>
        </p:nvSpPr>
        <p:spPr>
          <a:xfrm>
            <a:off x="9725101" y="4721504"/>
            <a:ext cx="194767" cy="668884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36729" y="4660697"/>
            <a:ext cx="194767" cy="729691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48356" y="4514759"/>
            <a:ext cx="194767" cy="875629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59984" y="4356659"/>
            <a:ext cx="194767" cy="1033729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1611" y="4174236"/>
            <a:ext cx="194767" cy="1216152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seconds to the whole business. Everything after this slide is proof.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[ 1.2 ]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Investment Highlights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numbered reasons to buy. One line each, the proof baked into the sentence.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50"/>
              </a:spcAft>
              <a:buSzPct val="100000"/>
              <a:buChar char="▪"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Market position: leader in a [SIZE] market with secular tailwinds</a:t>
            </a:r>
            <a:endParaRPr lang="en-US" sz="1150" dirty="0"/>
          </a:p>
          <a:p>
            <a:pPr marL="152400" indent="-152400">
              <a:spcAft>
                <a:spcPts val="550"/>
              </a:spcAft>
              <a:buSzPct val="100000"/>
              <a:buChar char="▪"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Product: automates the entire [WORKFLOW] end to end</a:t>
            </a:r>
            <a:endParaRPr lang="en-US" sz="1150" dirty="0"/>
          </a:p>
          <a:p>
            <a:pPr marL="152400" indent="-152400">
              <a:spcAft>
                <a:spcPts val="550"/>
              </a:spcAft>
              <a:buSzPct val="100000"/>
              <a:buChar char="▪"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Unit economics: [PAYBACK] CAC payback, consistent cohorts</a:t>
            </a:r>
            <a:endParaRPr lang="en-US" sz="1150" dirty="0"/>
          </a:p>
          <a:p>
            <a:pPr marL="152400" indent="-152400">
              <a:spcAft>
                <a:spcPts val="550"/>
              </a:spcAft>
              <a:buSzPct val="100000"/>
              <a:buChar char="▪"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Tech: scalable platform, multi-channel by design</a:t>
            </a:r>
            <a:endParaRPr lang="en-US" sz="1150" dirty="0"/>
          </a:p>
          <a:p>
            <a:pPr marL="152400" indent="-152400">
              <a:spcAft>
                <a:spcPts val="550"/>
              </a:spcAft>
              <a:buSzPct val="100000"/>
              <a:buChar char="▪"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Financial profile: [GROWTH %] growth at [MARGIN %] margins</a:t>
            </a:r>
            <a:endParaRPr lang="en-US" sz="1150" dirty="0"/>
          </a:p>
          <a:p>
            <a:pPr marL="152400" indent="-152400">
              <a:spcAft>
                <a:spcPts val="550"/>
              </a:spcAft>
              <a:buSzPct val="100000"/>
              <a:buChar char="▪"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— Team: founders committed to the next chapter</a:t>
            </a:r>
            <a:endParaRPr lang="en-US" sz="1150" dirty="0"/>
          </a:p>
          <a:p>
            <a:pPr marL="152400" indent="-152400">
              <a:spcAft>
                <a:spcPts val="550"/>
              </a:spcAft>
              <a:buSzPct val="100000"/>
              <a:buChar char="▪"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— GTM: low-touch engine driven by [TOP CHANNEL]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06210" y="1698498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6210" y="1698498"/>
            <a:ext cx="363565" cy="4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329465" y="1850517"/>
            <a:ext cx="241511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706210" y="2284857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6210" y="2284857"/>
            <a:ext cx="363565" cy="4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329465" y="2436876"/>
            <a:ext cx="241511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706210" y="2871216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6210" y="2871216"/>
            <a:ext cx="363565" cy="4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329465" y="3023235"/>
            <a:ext cx="241511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706210" y="3457575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6210" y="3457575"/>
            <a:ext cx="363565" cy="4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329465" y="3609594"/>
            <a:ext cx="241511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2" name="Shape 20"/>
          <p:cNvSpPr/>
          <p:nvPr/>
        </p:nvSpPr>
        <p:spPr>
          <a:xfrm>
            <a:off x="6706210" y="4043934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6210" y="4043934"/>
            <a:ext cx="363565" cy="4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329465" y="4195953"/>
            <a:ext cx="241511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706210" y="4630293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6210" y="4630293"/>
            <a:ext cx="363565" cy="4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329465" y="4782312"/>
            <a:ext cx="241511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8" name="Shape 26"/>
          <p:cNvSpPr/>
          <p:nvPr/>
        </p:nvSpPr>
        <p:spPr>
          <a:xfrm>
            <a:off x="6706210" y="5216652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6210" y="5216652"/>
            <a:ext cx="363565" cy="4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329465" y="5368671"/>
            <a:ext cx="241511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number, claim + proof per line. This is the slide buyers copy into their investment memo.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[ 1.3 ]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Ecosystem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diagram: you in the middle, everyone around you better off.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your supply side [SUPPLIERS / PARTNERS / DATA SOURCES]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the platforms you plug into [PLATFORM LOGOS]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Center: your product as the connecting layer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Below: your customer and THEIR end customer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benefit columns: what your customer gets, what their customer gets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02334" y="1915668"/>
            <a:ext cx="1350386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2334" y="1915668"/>
            <a:ext cx="1350386" cy="1303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134112" y="1915668"/>
            <a:ext cx="1350386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34112" y="1915668"/>
            <a:ext cx="1350386" cy="1303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316285" y="2089404"/>
            <a:ext cx="1454262" cy="955548"/>
          </a:xfrm>
          <a:prstGeom prst="rect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6285" y="2089404"/>
            <a:ext cx="1454262" cy="9555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PRODUCT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485278" y="3739896"/>
            <a:ext cx="1402324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85278" y="3739896"/>
            <a:ext cx="140232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303106" y="3739896"/>
            <a:ext cx="1402324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3106" y="3739896"/>
            <a:ext cx="140232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CUSTOMER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58148" y="4695444"/>
            <a:ext cx="2181393" cy="95554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8148" y="4695444"/>
            <a:ext cx="2181393" cy="9555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 TO CUSTOMER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913961" y="5129784"/>
            <a:ext cx="1765889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3" name="Shape 21"/>
          <p:cNvSpPr/>
          <p:nvPr/>
        </p:nvSpPr>
        <p:spPr>
          <a:xfrm>
            <a:off x="6913961" y="5368671"/>
            <a:ext cx="1094851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4" name="Shape 22"/>
          <p:cNvSpPr/>
          <p:nvPr/>
        </p:nvSpPr>
        <p:spPr>
          <a:xfrm>
            <a:off x="9199230" y="4695444"/>
            <a:ext cx="2181393" cy="95554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99230" y="4695444"/>
            <a:ext cx="2181393" cy="9555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 TO END CUSTOMER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355044" y="5129784"/>
            <a:ext cx="1765889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7" name="Shape 25"/>
          <p:cNvSpPr/>
          <p:nvPr/>
        </p:nvSpPr>
        <p:spPr>
          <a:xfrm>
            <a:off x="9355044" y="5368671"/>
            <a:ext cx="1094851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pay more for businesses that improve every player's outcome, not just their own.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[ 1.4 ]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Evolution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you serve customers across their whole lifecycle, not one niche.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[BEGINNER SEGMENT] — profile + your value proposition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[PART-TIME SEGMENT] — profile + your value proposition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[FULL-TIME / PRO SEGMENT] — profile + your value proposition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[ADJACENT SEGMENT] — the segment that expands your TAM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each: 2-3 lines on who they are, 2-3 lines on what you do for them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02334" y="1828800"/>
            <a:ext cx="1142634" cy="608076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2334" y="1828800"/>
            <a:ext cx="1142634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BEGINNER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602334" y="2697480"/>
            <a:ext cx="1142634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2334" y="2697480"/>
            <a:ext cx="1142634" cy="1303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6706210" y="308838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6210" y="330555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706210" y="3522726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602334" y="4174236"/>
            <a:ext cx="1142634" cy="143332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2334" y="4174236"/>
            <a:ext cx="1142634" cy="14333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PROP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706210" y="456514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0" name="Shape 18"/>
          <p:cNvSpPr/>
          <p:nvPr/>
        </p:nvSpPr>
        <p:spPr>
          <a:xfrm>
            <a:off x="6706210" y="478231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706210" y="4999482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2" name="Shape 20"/>
          <p:cNvSpPr/>
          <p:nvPr/>
        </p:nvSpPr>
        <p:spPr>
          <a:xfrm>
            <a:off x="7874813" y="1828800"/>
            <a:ext cx="1142634" cy="608076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4813" y="1828800"/>
            <a:ext cx="1142634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PART-TIME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7874813" y="2697480"/>
            <a:ext cx="1142634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74813" y="2697480"/>
            <a:ext cx="1142634" cy="1303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7978689" y="308838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7" name="Shape 25"/>
          <p:cNvSpPr/>
          <p:nvPr/>
        </p:nvSpPr>
        <p:spPr>
          <a:xfrm>
            <a:off x="7978689" y="330555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8" name="Shape 26"/>
          <p:cNvSpPr/>
          <p:nvPr/>
        </p:nvSpPr>
        <p:spPr>
          <a:xfrm>
            <a:off x="7978689" y="3522726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9" name="Shape 27"/>
          <p:cNvSpPr/>
          <p:nvPr/>
        </p:nvSpPr>
        <p:spPr>
          <a:xfrm>
            <a:off x="7874813" y="4174236"/>
            <a:ext cx="1142634" cy="143332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74813" y="4174236"/>
            <a:ext cx="1142634" cy="14333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PROP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7978689" y="456514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2" name="Shape 30"/>
          <p:cNvSpPr/>
          <p:nvPr/>
        </p:nvSpPr>
        <p:spPr>
          <a:xfrm>
            <a:off x="7978689" y="478231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3" name="Shape 31"/>
          <p:cNvSpPr/>
          <p:nvPr/>
        </p:nvSpPr>
        <p:spPr>
          <a:xfrm>
            <a:off x="7978689" y="4999482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7292" y="1828800"/>
            <a:ext cx="1142634" cy="608076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7292" y="1828800"/>
            <a:ext cx="1142634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FULL-TIME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9147292" y="2697480"/>
            <a:ext cx="1142634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7292" y="2697480"/>
            <a:ext cx="1142634" cy="1303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9251168" y="308838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9" name="Shape 37"/>
          <p:cNvSpPr/>
          <p:nvPr/>
        </p:nvSpPr>
        <p:spPr>
          <a:xfrm>
            <a:off x="9251168" y="330555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40" name="Shape 38"/>
          <p:cNvSpPr/>
          <p:nvPr/>
        </p:nvSpPr>
        <p:spPr>
          <a:xfrm>
            <a:off x="9251168" y="3522726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7292" y="4174236"/>
            <a:ext cx="1142634" cy="143332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7292" y="4174236"/>
            <a:ext cx="1142634" cy="14333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PROP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9251168" y="456514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44" name="Shape 42"/>
          <p:cNvSpPr/>
          <p:nvPr/>
        </p:nvSpPr>
        <p:spPr>
          <a:xfrm>
            <a:off x="9251168" y="478231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45" name="Shape 43"/>
          <p:cNvSpPr/>
          <p:nvPr/>
        </p:nvSpPr>
        <p:spPr>
          <a:xfrm>
            <a:off x="9251168" y="4999482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46" name="Shape 44"/>
          <p:cNvSpPr/>
          <p:nvPr/>
        </p:nvSpPr>
        <p:spPr>
          <a:xfrm>
            <a:off x="10419771" y="1828800"/>
            <a:ext cx="1142634" cy="608076"/>
          </a:xfrm>
          <a:prstGeom prst="rect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19771" y="1828800"/>
            <a:ext cx="1142634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ADJACENT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10419771" y="2697480"/>
            <a:ext cx="1142634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19771" y="2697480"/>
            <a:ext cx="1142634" cy="1303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10523647" y="308838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51" name="Shape 49"/>
          <p:cNvSpPr/>
          <p:nvPr/>
        </p:nvSpPr>
        <p:spPr>
          <a:xfrm>
            <a:off x="10523647" y="330555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52" name="Shape 50"/>
          <p:cNvSpPr/>
          <p:nvPr/>
        </p:nvSpPr>
        <p:spPr>
          <a:xfrm>
            <a:off x="10523647" y="3522726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53" name="Shape 51"/>
          <p:cNvSpPr/>
          <p:nvPr/>
        </p:nvSpPr>
        <p:spPr>
          <a:xfrm>
            <a:off x="10419771" y="4174236"/>
            <a:ext cx="1142634" cy="143332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19771" y="4174236"/>
            <a:ext cx="1142634" cy="14333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PROP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10523647" y="456514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56" name="Shape 54"/>
          <p:cNvSpPr/>
          <p:nvPr/>
        </p:nvSpPr>
        <p:spPr>
          <a:xfrm>
            <a:off x="10523647" y="478231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57" name="Shape 55"/>
          <p:cNvSpPr/>
          <p:nvPr/>
        </p:nvSpPr>
        <p:spPr>
          <a:xfrm>
            <a:off x="10523647" y="4999482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who grows inside your product is retention the buyer doesn't have to build.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[ 1.5 ]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Company Journey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timeline that makes the buyer feel the arc.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6-7 milestones from [FOUNDING YEAR] to today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1: the founder falls in love with the problem, BEFORE the company exists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Middle: launch, rebuild, key integrations, inflection point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milestone: 'the future' — poised for growth with a new partner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story under each milestone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10085" y="3305556"/>
            <a:ext cx="4466661" cy="14630"/>
          </a:xfrm>
          <a:prstGeom prst="rect">
            <a:avLst/>
          </a:prstGeom>
          <a:solidFill>
            <a:srgbClr val="8F9093"/>
          </a:solidFill>
          <a:ln/>
        </p:spPr>
      </p:sp>
      <p:sp>
        <p:nvSpPr>
          <p:cNvPr id="11" name="Shape 9"/>
          <p:cNvSpPr/>
          <p:nvPr/>
        </p:nvSpPr>
        <p:spPr>
          <a:xfrm>
            <a:off x="6764365" y="3267151"/>
            <a:ext cx="91440" cy="91440"/>
          </a:xfrm>
          <a:prstGeom prst="ellipse">
            <a:avLst/>
          </a:prstGeom>
          <a:solidFill>
            <a:srgbClr val="292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0396" y="3739896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0396" y="3957066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4" name="Shape 12"/>
          <p:cNvSpPr/>
          <p:nvPr/>
        </p:nvSpPr>
        <p:spPr>
          <a:xfrm>
            <a:off x="7508809" y="3267151"/>
            <a:ext cx="91440" cy="91440"/>
          </a:xfrm>
          <a:prstGeom prst="ellipse">
            <a:avLst/>
          </a:prstGeom>
          <a:solidFill>
            <a:srgbClr val="292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8870" y="4347972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8870" y="4565142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253252" y="3267151"/>
            <a:ext cx="91440" cy="91440"/>
          </a:xfrm>
          <a:prstGeom prst="ellipse">
            <a:avLst/>
          </a:prstGeom>
          <a:solidFill>
            <a:srgbClr val="292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8013314" y="3739896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013314" y="3957066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997696" y="3267151"/>
            <a:ext cx="91440" cy="91440"/>
          </a:xfrm>
          <a:prstGeom prst="ellipse">
            <a:avLst/>
          </a:prstGeom>
          <a:solidFill>
            <a:srgbClr val="292B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757757" y="4347972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2" name="Shape 20"/>
          <p:cNvSpPr/>
          <p:nvPr/>
        </p:nvSpPr>
        <p:spPr>
          <a:xfrm>
            <a:off x="8757757" y="4565142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3" name="Shape 21"/>
          <p:cNvSpPr/>
          <p:nvPr/>
        </p:nvSpPr>
        <p:spPr>
          <a:xfrm>
            <a:off x="9742140" y="3267151"/>
            <a:ext cx="91440" cy="91440"/>
          </a:xfrm>
          <a:prstGeom prst="ellipse">
            <a:avLst/>
          </a:prstGeom>
          <a:solidFill>
            <a:srgbClr val="292B2E"/>
          </a:solidFill>
          <a:ln/>
        </p:spPr>
      </p:sp>
      <p:sp>
        <p:nvSpPr>
          <p:cNvPr id="24" name="Shape 22"/>
          <p:cNvSpPr/>
          <p:nvPr/>
        </p:nvSpPr>
        <p:spPr>
          <a:xfrm>
            <a:off x="9502201" y="3739896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5" name="Shape 23"/>
          <p:cNvSpPr/>
          <p:nvPr/>
        </p:nvSpPr>
        <p:spPr>
          <a:xfrm>
            <a:off x="9502201" y="3957066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86583" y="3267151"/>
            <a:ext cx="91440" cy="91440"/>
          </a:xfrm>
          <a:prstGeom prst="ellipse">
            <a:avLst/>
          </a:prstGeom>
          <a:solidFill>
            <a:srgbClr val="292B2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46644" y="4347972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8" name="Shape 26"/>
          <p:cNvSpPr/>
          <p:nvPr/>
        </p:nvSpPr>
        <p:spPr>
          <a:xfrm>
            <a:off x="10246644" y="4565142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31027" y="3267151"/>
            <a:ext cx="91440" cy="91440"/>
          </a:xfrm>
          <a:prstGeom prst="ellipse">
            <a:avLst/>
          </a:prstGeom>
          <a:solidFill>
            <a:srgbClr val="C2A878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91088" y="3739896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91088" y="3957066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810085" y="4608576"/>
            <a:ext cx="4466661" cy="868680"/>
          </a:xfrm>
          <a:prstGeom prst="rect">
            <a:avLst/>
          </a:prstGeom>
          <a:solidFill>
            <a:srgbClr val="F5F4F1"/>
          </a:solidFill>
          <a:ln w="12700">
            <a:solidFill>
              <a:srgbClr val="8F90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0085" y="4608576"/>
            <a:ext cx="4466661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ARC: PROBLEM -&gt; PRODUCT -&gt; PLATFORM -&gt; PARTNER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deck started the story before the company existed. Buyers buy founders who lived the problem.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[ 1.6 ]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Profile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 from story to money.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+ EBITDA bars: [YEAR-2 A] · [YEAR-1 A] · [THIS YEAR E] · [NEXT YEAR P]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strategy boxes: [PRODUCT DEV] · [CHANNEL DEPTH] · [NEW SEGMENT]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[MARKETING EXPANSION] · [CONVERSION + RETENTION] · [ADJACENT OFFERINGS]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bullets on the near-term plan in plain sentences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741932"/>
            <a:ext cx="285658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741932"/>
            <a:ext cx="2856586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+ EBITDA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976449" y="3653028"/>
            <a:ext cx="381419" cy="434340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6720" y="3218688"/>
            <a:ext cx="381419" cy="868680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6990" y="2784348"/>
            <a:ext cx="381419" cy="1303020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807261" y="2350008"/>
            <a:ext cx="381419" cy="1737360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080325" y="4000500"/>
            <a:ext cx="381419" cy="86868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17" name="Shape 15"/>
          <p:cNvSpPr/>
          <p:nvPr/>
        </p:nvSpPr>
        <p:spPr>
          <a:xfrm>
            <a:off x="7690595" y="3774643"/>
            <a:ext cx="381419" cy="312725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18" name="Shape 16"/>
          <p:cNvSpPr/>
          <p:nvPr/>
        </p:nvSpPr>
        <p:spPr>
          <a:xfrm>
            <a:off x="8300866" y="3566160"/>
            <a:ext cx="381419" cy="521208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19" name="Shape 17"/>
          <p:cNvSpPr/>
          <p:nvPr/>
        </p:nvSpPr>
        <p:spPr>
          <a:xfrm>
            <a:off x="8911137" y="3357677"/>
            <a:ext cx="381419" cy="729691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20" name="Shape 18"/>
          <p:cNvSpPr/>
          <p:nvPr/>
        </p:nvSpPr>
        <p:spPr>
          <a:xfrm>
            <a:off x="9770547" y="1741932"/>
            <a:ext cx="779069" cy="73837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70547" y="1741932"/>
            <a:ext cx="779069" cy="7383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0653492" y="1741932"/>
            <a:ext cx="779069" cy="73837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53492" y="1741932"/>
            <a:ext cx="779069" cy="7383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9770547" y="2654046"/>
            <a:ext cx="779069" cy="73837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0547" y="2654046"/>
            <a:ext cx="779069" cy="7383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0653492" y="2654046"/>
            <a:ext cx="779069" cy="73837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53492" y="2654046"/>
            <a:ext cx="779069" cy="7383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9770547" y="3566160"/>
            <a:ext cx="779069" cy="73837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70547" y="3566160"/>
            <a:ext cx="779069" cy="7383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0653492" y="3566160"/>
            <a:ext cx="779069" cy="73837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53492" y="3566160"/>
            <a:ext cx="779069" cy="7383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654272" y="4608576"/>
            <a:ext cx="4778289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4272" y="4608576"/>
            <a:ext cx="4778289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NEAR-TERM PLAN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810085" y="5042916"/>
            <a:ext cx="441472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5" name="Shape 33"/>
          <p:cNvSpPr/>
          <p:nvPr/>
        </p:nvSpPr>
        <p:spPr>
          <a:xfrm>
            <a:off x="6810085" y="5281803"/>
            <a:ext cx="2737128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next to named strategies. Every forecast dollar traces to a lever on this slide.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[ 1.7 ]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 Team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only, or founders plus 1-2 key executives.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 1]: years of relevant experience, prior roles, elite credentials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 2]: same structure, 3-4 bullets max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line: 'Supported by a full team committed to the next chapter'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Skip: hobbies, adjectives, mission statements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62023" y="1828800"/>
            <a:ext cx="727131" cy="869495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62023" y="1828800"/>
            <a:ext cx="727131" cy="869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654272" y="2958084"/>
            <a:ext cx="2181393" cy="43434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4272" y="2958084"/>
            <a:ext cx="2181393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+ TITLE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758148" y="3653028"/>
            <a:ext cx="186976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758148" y="3913632"/>
            <a:ext cx="186976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758148" y="4174236"/>
            <a:ext cx="186976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758148" y="4434840"/>
            <a:ext cx="1159254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8" name="Shape 16"/>
          <p:cNvSpPr/>
          <p:nvPr/>
        </p:nvSpPr>
        <p:spPr>
          <a:xfrm>
            <a:off x="9458919" y="1828800"/>
            <a:ext cx="727131" cy="869495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58919" y="1828800"/>
            <a:ext cx="727131" cy="869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9251168" y="2958084"/>
            <a:ext cx="2181393" cy="43434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1168" y="2958084"/>
            <a:ext cx="2181393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+ TITLE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355044" y="3653028"/>
            <a:ext cx="186976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3" name="Shape 21"/>
          <p:cNvSpPr/>
          <p:nvPr/>
        </p:nvSpPr>
        <p:spPr>
          <a:xfrm>
            <a:off x="9355044" y="3913632"/>
            <a:ext cx="186976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4" name="Shape 22"/>
          <p:cNvSpPr/>
          <p:nvPr/>
        </p:nvSpPr>
        <p:spPr>
          <a:xfrm>
            <a:off x="9355044" y="4174236"/>
            <a:ext cx="186976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5" name="Shape 23"/>
          <p:cNvSpPr/>
          <p:nvPr/>
        </p:nvSpPr>
        <p:spPr>
          <a:xfrm>
            <a:off x="9355044" y="4434840"/>
            <a:ext cx="1159254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5589" y="5042916"/>
            <a:ext cx="3635654" cy="521208"/>
          </a:xfrm>
          <a:prstGeom prst="rect">
            <a:avLst/>
          </a:prstGeom>
          <a:solidFill>
            <a:srgbClr val="F5F4F1"/>
          </a:solidFill>
          <a:ln w="12700">
            <a:solidFill>
              <a:srgbClr val="8F90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5589" y="5042916"/>
            <a:ext cx="363565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TEAM COMMITTED TO NEXT CHAPTER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bullets only. The buyer is underwriting the people as much as the product.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02 · INDUSTRY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[ 2.1 ]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Market Shift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market's story in two eras. Make your category feel inevitable.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3 bullets on why it was hard [CLUNKY / EXPENSIVE / COMPLEX]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4 checkmarks on why it exploded [ACCESSIBLE / FAST / MASSIVE AUDIENCE]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stats: [MARKET SIZE THEN] vs [MARKET SIZE NOW], each with a named source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key themes that make your category the obvious next step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741932"/>
            <a:ext cx="2285268" cy="225856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741932"/>
            <a:ext cx="2285268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810085" y="2263140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0085" y="2654046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4" name="Shape 12"/>
          <p:cNvSpPr/>
          <p:nvPr/>
        </p:nvSpPr>
        <p:spPr>
          <a:xfrm>
            <a:off x="6810085" y="3044952"/>
            <a:ext cx="119145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7292" y="1741932"/>
            <a:ext cx="2285268" cy="2258568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7292" y="1741932"/>
            <a:ext cx="2285268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303106" y="2263140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8" name="Shape 16"/>
          <p:cNvSpPr/>
          <p:nvPr/>
        </p:nvSpPr>
        <p:spPr>
          <a:xfrm>
            <a:off x="9303106" y="2610612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9" name="Shape 17"/>
          <p:cNvSpPr/>
          <p:nvPr/>
        </p:nvSpPr>
        <p:spPr>
          <a:xfrm>
            <a:off x="9303106" y="2958084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0" name="Shape 18"/>
          <p:cNvSpPr/>
          <p:nvPr/>
        </p:nvSpPr>
        <p:spPr>
          <a:xfrm>
            <a:off x="9303106" y="3305556"/>
            <a:ext cx="119145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654272" y="4261104"/>
            <a:ext cx="1454262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4272" y="4261104"/>
            <a:ext cx="1454262" cy="1303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[THEN]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316285" y="4261104"/>
            <a:ext cx="1454262" cy="1303020"/>
          </a:xfrm>
          <a:prstGeom prst="rect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16285" y="4261104"/>
            <a:ext cx="1454262" cy="1303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[NOW]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978299" y="4261104"/>
            <a:ext cx="1454262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78299" y="4261104"/>
            <a:ext cx="1454262" cy="1303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buyer needs to believe the market did the hard work already. You're the way to ride it.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02 · INDUSTRY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[ 2.2 ]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Size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big chart. Third-party sources only on this slide.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value by year, 5 years forward, with [CAGR %] called out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supporting stats below, each with a named research source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[% OF MARKET USING YOUR CATEGORY] · [NUMBER OF POTENTIAL CUSTOMERS]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your own estimates here. Named research firms only.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75638" y="3409798"/>
            <a:ext cx="378714" cy="677570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1" name="Shape 9"/>
          <p:cNvSpPr/>
          <p:nvPr/>
        </p:nvSpPr>
        <p:spPr>
          <a:xfrm>
            <a:off x="7581580" y="3183941"/>
            <a:ext cx="378714" cy="903427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8187522" y="2912913"/>
            <a:ext cx="378714" cy="1174455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793465" y="2596713"/>
            <a:ext cx="378714" cy="1490655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399407" y="2235342"/>
            <a:ext cx="378714" cy="1852026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05350" y="1828800"/>
            <a:ext cx="378714" cy="2258568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05429" y="1915668"/>
            <a:ext cx="727131" cy="521208"/>
          </a:xfrm>
          <a:prstGeom prst="rect">
            <a:avLst/>
          </a:prstGeom>
          <a:solidFill>
            <a:srgbClr val="C2A878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05429" y="1915668"/>
            <a:ext cx="727131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CAGR %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758148" y="4608576"/>
            <a:ext cx="1454262" cy="95554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8148" y="4608576"/>
            <a:ext cx="1454262" cy="9555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+ SOURCE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8420161" y="4608576"/>
            <a:ext cx="1454262" cy="95554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0161" y="4608576"/>
            <a:ext cx="1454262" cy="9555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+ SOURCE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0082174" y="4608576"/>
            <a:ext cx="1454262" cy="95554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82174" y="4608576"/>
            <a:ext cx="1454262" cy="9555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+ SOURCE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credibility on every later slide borrows from how honest this one is.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02 · INDUSTRY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[ 2.3 ]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TAM, Two Ways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TAM with two independent methods. Show they land in the same place.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Top-down: [TOTAL MARKET VALUE] x [YOUR CATEGORY'S SHARE %] = [TAM]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Bottom-up: [POTENTIAL CUSTOMERS] x [CONSERVATIVE REVENUE PER CUSTOMER] = [TAM]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every assumption conservative, footnote every input's source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state: [TAM TODAY] growing to [TAM IN 5 YEARS] at [CAGR %]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915668"/>
            <a:ext cx="124651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915668"/>
            <a:ext cx="124651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[MARKET $]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108533" y="1915668"/>
            <a:ext cx="259690" cy="868680"/>
          </a:xfrm>
          <a:prstGeom prst="rect">
            <a:avLst/>
          </a:prstGeom>
          <a:solidFill>
            <a:srgbClr val="F5F4F1"/>
          </a:solidFill>
          <a:ln w="12700">
            <a:solidFill>
              <a:srgbClr val="8F90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8533" y="1915668"/>
            <a:ext cx="25969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524037" y="1915668"/>
            <a:ext cx="124651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24037" y="1915668"/>
            <a:ext cx="124651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[SHARE %]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978299" y="1915668"/>
            <a:ext cx="1454262" cy="868680"/>
          </a:xfrm>
          <a:prstGeom prst="rect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8299" y="1915668"/>
            <a:ext cx="145426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[TAM]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54272" y="3305556"/>
            <a:ext cx="124651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4272" y="3305556"/>
            <a:ext cx="124651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[CUSTOMERS]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108533" y="3305556"/>
            <a:ext cx="259690" cy="868680"/>
          </a:xfrm>
          <a:prstGeom prst="rect">
            <a:avLst/>
          </a:prstGeom>
          <a:solidFill>
            <a:srgbClr val="F5F4F1"/>
          </a:solidFill>
          <a:ln w="12700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08533" y="3305556"/>
            <a:ext cx="25969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524037" y="3305556"/>
            <a:ext cx="124651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24037" y="3305556"/>
            <a:ext cx="124651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 / CUSTOMER]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9978299" y="3305556"/>
            <a:ext cx="1454262" cy="868680"/>
          </a:xfrm>
          <a:prstGeom prst="rect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78299" y="3305556"/>
            <a:ext cx="145426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[TAM]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54272" y="4695444"/>
            <a:ext cx="4778289" cy="868680"/>
          </a:xfrm>
          <a:prstGeom prst="rect">
            <a:avLst/>
          </a:prstGeom>
          <a:solidFill>
            <a:srgbClr val="E9E8E5"/>
          </a:solidFill>
          <a:ln w="12700">
            <a:solidFill>
              <a:srgbClr val="8F90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4272" y="4695444"/>
            <a:ext cx="4778289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METHODS -&gt; SAME NUMBER = CREDIBLE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inflate one method. Two independent paths landing together is the credibility move.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 · SOLUTIONS &amp;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[ 3.1 ]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Overview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5-7 core modules, each described by the job it does.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[MODULE 1] — one line: the job it does for the customer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[MODULE 2-6] — same pattern, jobs not features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left: 'end-to-end solution'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right: the customer outcomes it enables [REVENUE / SCALE / BRAND]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06210" y="1698498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77527" y="1698498"/>
            <a:ext cx="2596896" cy="47777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7527" y="1698498"/>
            <a:ext cx="2596896" cy="477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706210" y="2371725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77527" y="2371725"/>
            <a:ext cx="2596896" cy="47777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7527" y="2371725"/>
            <a:ext cx="2596896" cy="477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6706210" y="3044952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7527" y="3044952"/>
            <a:ext cx="2596896" cy="47777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7527" y="3044952"/>
            <a:ext cx="2596896" cy="477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3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706210" y="3718179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77527" y="3718179"/>
            <a:ext cx="2596896" cy="47777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7527" y="3718179"/>
            <a:ext cx="2596896" cy="477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4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706210" y="4391406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7527" y="4391406"/>
            <a:ext cx="2596896" cy="47777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77527" y="4391406"/>
            <a:ext cx="2596896" cy="477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5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706210" y="5064633"/>
            <a:ext cx="363565" cy="43474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77527" y="5064633"/>
            <a:ext cx="2596896" cy="47777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77527" y="5064633"/>
            <a:ext cx="2596896" cy="477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6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0186050" y="1698498"/>
            <a:ext cx="1246510" cy="390906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86050" y="1698498"/>
            <a:ext cx="1246510" cy="39090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OUTCOMES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0341864" y="2567178"/>
            <a:ext cx="93488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41864" y="3088386"/>
            <a:ext cx="93488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41864" y="3609594"/>
            <a:ext cx="93488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3" name="Shape 31"/>
          <p:cNvSpPr/>
          <p:nvPr/>
        </p:nvSpPr>
        <p:spPr>
          <a:xfrm>
            <a:off x="10341864" y="4130802"/>
            <a:ext cx="93488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41864" y="4652010"/>
            <a:ext cx="57962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Jobs, not features. The buyer maps each module to revenue they can grow.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 · SOLUTIONS &amp;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[ 3.2 ]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Integrations &amp; Partnerships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are your distribution. Show the timeline and the mix.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[PLATFORM] + [YEAR ADDED], oldest to newest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Revenue-mix pie by channel: [CHANNEL A %] / [CHANNEL B %] / [OTHER %]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checkmarks: why integrations compound growth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out your deepest partnership [PARTNER STATUS / TIER]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10085" y="2436876"/>
            <a:ext cx="2856586" cy="14630"/>
          </a:xfrm>
          <a:prstGeom prst="rect">
            <a:avLst/>
          </a:prstGeom>
          <a:solidFill>
            <a:srgbClr val="8F9093"/>
          </a:solidFill>
          <a:ln/>
        </p:spPr>
      </p:sp>
      <p:sp>
        <p:nvSpPr>
          <p:cNvPr id="11" name="Shape 9"/>
          <p:cNvSpPr/>
          <p:nvPr/>
        </p:nvSpPr>
        <p:spPr>
          <a:xfrm>
            <a:off x="6764365" y="2398471"/>
            <a:ext cx="91440" cy="91440"/>
          </a:xfrm>
          <a:prstGeom prst="ellipse">
            <a:avLst/>
          </a:prstGeom>
          <a:solidFill>
            <a:srgbClr val="292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0396" y="2871216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0396" y="3088386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4" name="Shape 12"/>
          <p:cNvSpPr/>
          <p:nvPr/>
        </p:nvSpPr>
        <p:spPr>
          <a:xfrm>
            <a:off x="7478512" y="2398471"/>
            <a:ext cx="91440" cy="91440"/>
          </a:xfrm>
          <a:prstGeom prst="ellipse">
            <a:avLst/>
          </a:prstGeom>
          <a:solidFill>
            <a:srgbClr val="292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8573" y="3479292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7238573" y="3696462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92658" y="2398471"/>
            <a:ext cx="91440" cy="91440"/>
          </a:xfrm>
          <a:prstGeom prst="ellipse">
            <a:avLst/>
          </a:prstGeom>
          <a:solidFill>
            <a:srgbClr val="292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952720" y="2871216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2720" y="3088386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906805" y="2398471"/>
            <a:ext cx="91440" cy="91440"/>
          </a:xfrm>
          <a:prstGeom prst="ellipse">
            <a:avLst/>
          </a:prstGeom>
          <a:solidFill>
            <a:srgbClr val="292B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666866" y="3479292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2" name="Shape 20"/>
          <p:cNvSpPr/>
          <p:nvPr/>
        </p:nvSpPr>
        <p:spPr>
          <a:xfrm>
            <a:off x="8666866" y="3696462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3" name="Shape 21"/>
          <p:cNvSpPr/>
          <p:nvPr/>
        </p:nvSpPr>
        <p:spPr>
          <a:xfrm>
            <a:off x="9620951" y="2398471"/>
            <a:ext cx="91440" cy="91440"/>
          </a:xfrm>
          <a:prstGeom prst="ellipse">
            <a:avLst/>
          </a:prstGeom>
          <a:solidFill>
            <a:srgbClr val="C2A878"/>
          </a:solidFill>
          <a:ln/>
        </p:spPr>
      </p:sp>
      <p:sp>
        <p:nvSpPr>
          <p:cNvPr id="24" name="Shape 22"/>
          <p:cNvSpPr/>
          <p:nvPr/>
        </p:nvSpPr>
        <p:spPr>
          <a:xfrm>
            <a:off x="9381012" y="2871216"/>
            <a:ext cx="5713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5" name="Shape 23"/>
          <p:cNvSpPr/>
          <p:nvPr/>
        </p:nvSpPr>
        <p:spPr>
          <a:xfrm>
            <a:off x="9381012" y="3088386"/>
            <a:ext cx="35421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86050" y="1828800"/>
            <a:ext cx="1246510" cy="1490564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86050" y="1828800"/>
            <a:ext cx="1246510" cy="1490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 %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654272" y="4174236"/>
            <a:ext cx="3116275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4272" y="4174236"/>
            <a:ext cx="3116275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INTEGRATIONS COMPOUND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810085" y="4695444"/>
            <a:ext cx="27007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1" name="Shape 29"/>
          <p:cNvSpPr/>
          <p:nvPr/>
        </p:nvSpPr>
        <p:spPr>
          <a:xfrm>
            <a:off x="6810085" y="4956048"/>
            <a:ext cx="27007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810085" y="5216652"/>
            <a:ext cx="1674479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82174" y="4347972"/>
            <a:ext cx="1350386" cy="1042416"/>
          </a:xfrm>
          <a:prstGeom prst="rect">
            <a:avLst/>
          </a:prstGeom>
          <a:solidFill>
            <a:srgbClr val="C2A878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82174" y="4347972"/>
            <a:ext cx="135038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[PARTNER TIER]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integration is a moat AND a growth channel. Buyers price both.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 · SOLUTIONS &amp;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[ 3.3 ]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Supply Side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your version of supply is: partners, inventory, data, content.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Breadth: [TOTAL SUPPLY COUNT] across [SOURCES]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Depth: [EXCLUSIVE / PRIVATE COUNT] only available through you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advantages box per supply type [SPEED / QUALITY / PRICE / BRANDING]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exclusivity story: what can a customer get ONLY here?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02334" y="1828800"/>
            <a:ext cx="1142634" cy="781812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2334" y="1828800"/>
            <a:ext cx="1142634" cy="7818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602334" y="2871216"/>
            <a:ext cx="1142634" cy="182422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2334" y="2871216"/>
            <a:ext cx="1142634" cy="18242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6706210" y="3348990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6210" y="3653028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706210" y="3957066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7874813" y="1828800"/>
            <a:ext cx="1142634" cy="781812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74813" y="1828800"/>
            <a:ext cx="1142634" cy="7818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2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7874813" y="2871216"/>
            <a:ext cx="1142634" cy="182422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74813" y="2871216"/>
            <a:ext cx="1142634" cy="18242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978689" y="3348990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2" name="Shape 20"/>
          <p:cNvSpPr/>
          <p:nvPr/>
        </p:nvSpPr>
        <p:spPr>
          <a:xfrm>
            <a:off x="7978689" y="3653028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3" name="Shape 21"/>
          <p:cNvSpPr/>
          <p:nvPr/>
        </p:nvSpPr>
        <p:spPr>
          <a:xfrm>
            <a:off x="7978689" y="3957066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7292" y="1828800"/>
            <a:ext cx="1142634" cy="781812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7292" y="1828800"/>
            <a:ext cx="1142634" cy="7818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3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147292" y="2871216"/>
            <a:ext cx="1142634" cy="182422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7292" y="2871216"/>
            <a:ext cx="1142634" cy="18242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9251168" y="3348990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9" name="Shape 27"/>
          <p:cNvSpPr/>
          <p:nvPr/>
        </p:nvSpPr>
        <p:spPr>
          <a:xfrm>
            <a:off x="9251168" y="3653028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0" name="Shape 28"/>
          <p:cNvSpPr/>
          <p:nvPr/>
        </p:nvSpPr>
        <p:spPr>
          <a:xfrm>
            <a:off x="9251168" y="3957066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19771" y="1828800"/>
            <a:ext cx="1142634" cy="781812"/>
          </a:xfrm>
          <a:prstGeom prst="rect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19771" y="1828800"/>
            <a:ext cx="1142634" cy="7818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4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0419771" y="2871216"/>
            <a:ext cx="1142634" cy="182422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19771" y="2871216"/>
            <a:ext cx="1142634" cy="18242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10523647" y="3348990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23647" y="3653028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23647" y="3957066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8" name="Shape 36"/>
          <p:cNvSpPr/>
          <p:nvPr/>
        </p:nvSpPr>
        <p:spPr>
          <a:xfrm>
            <a:off x="6602334" y="4956048"/>
            <a:ext cx="2337206" cy="60807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2334" y="4956048"/>
            <a:ext cx="2337206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COUNT]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147292" y="4956048"/>
            <a:ext cx="2337206" cy="608076"/>
          </a:xfrm>
          <a:prstGeom prst="rect">
            <a:avLst/>
          </a:prstGeom>
          <a:solidFill>
            <a:srgbClr val="C2A878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7292" y="4956048"/>
            <a:ext cx="2337206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[EXCLUSIVE COUNT]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proves scale. Exclusivity proves moat. Show both numbers separately.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 · SOLUTIONS &amp;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[ 3.4 ]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Walkthrough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slide PER core module. Repeat this exact pattern 5-8 times.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real product screenshot, current UI, no mockups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3-6 checkmarks, each a job done for the customer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Differentiated feature nobody else has? Give it a call-out box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sequence with one click-to-watch demo link slide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741932"/>
            <a:ext cx="2856586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741932"/>
            <a:ext cx="2856586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SCREENSHOT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718609" y="1828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978299" y="1959102"/>
            <a:ext cx="90164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4" name="Text 12"/>
          <p:cNvSpPr/>
          <p:nvPr/>
        </p:nvSpPr>
        <p:spPr>
          <a:xfrm>
            <a:off x="9718609" y="239344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978299" y="2523744"/>
            <a:ext cx="90164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Text 14"/>
          <p:cNvSpPr/>
          <p:nvPr/>
        </p:nvSpPr>
        <p:spPr>
          <a:xfrm>
            <a:off x="9718609" y="29580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978299" y="3088386"/>
            <a:ext cx="90164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8" name="Text 16"/>
          <p:cNvSpPr/>
          <p:nvPr/>
        </p:nvSpPr>
        <p:spPr>
          <a:xfrm>
            <a:off x="9718609" y="352272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978299" y="3653028"/>
            <a:ext cx="90164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0" name="Text 18"/>
          <p:cNvSpPr/>
          <p:nvPr/>
        </p:nvSpPr>
        <p:spPr>
          <a:xfrm>
            <a:off x="9718609" y="40873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78299" y="4217670"/>
            <a:ext cx="90164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2" name="Shape 20"/>
          <p:cNvSpPr/>
          <p:nvPr/>
        </p:nvSpPr>
        <p:spPr>
          <a:xfrm>
            <a:off x="9666671" y="4608576"/>
            <a:ext cx="1765889" cy="608076"/>
          </a:xfrm>
          <a:prstGeom prst="rect">
            <a:avLst/>
          </a:prstGeom>
          <a:solidFill>
            <a:srgbClr val="C2A878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66671" y="4608576"/>
            <a:ext cx="1765889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FEATURE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654272" y="5129784"/>
            <a:ext cx="2856586" cy="521208"/>
          </a:xfrm>
          <a:prstGeom prst="rect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4272" y="5129784"/>
            <a:ext cx="285658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DEMO VIDEO LINK ]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forward the demo link internally. Make the product sell itself before the meeting.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 · SOLUTIONS &amp;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[ 3.5 ]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&amp; Brand Proof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 ship what you plan, and the market already trusts you.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4 quarters, 4-6 items each, shipped items checked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1-2 ambitious items unlabeled to signal upside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proof: [REVIEW RATING + COUNT] · [PARTNER STATUS] · [AWARDS]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Logos and badges only. No text. Social proof compresses diligence.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02334" y="1741932"/>
            <a:ext cx="1142634" cy="43434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2334" y="1741932"/>
            <a:ext cx="1142634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706210" y="243687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706210" y="2740914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4" name="Shape 12"/>
          <p:cNvSpPr/>
          <p:nvPr/>
        </p:nvSpPr>
        <p:spPr>
          <a:xfrm>
            <a:off x="6706210" y="304495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6210" y="3348990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7874813" y="1741932"/>
            <a:ext cx="1142634" cy="43434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74813" y="1741932"/>
            <a:ext cx="1142634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978689" y="243687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9" name="Shape 17"/>
          <p:cNvSpPr/>
          <p:nvPr/>
        </p:nvSpPr>
        <p:spPr>
          <a:xfrm>
            <a:off x="7978689" y="2740914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0" name="Shape 18"/>
          <p:cNvSpPr/>
          <p:nvPr/>
        </p:nvSpPr>
        <p:spPr>
          <a:xfrm>
            <a:off x="7978689" y="304495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1" name="Shape 19"/>
          <p:cNvSpPr/>
          <p:nvPr/>
        </p:nvSpPr>
        <p:spPr>
          <a:xfrm>
            <a:off x="7978689" y="3348990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7292" y="1741932"/>
            <a:ext cx="1142634" cy="43434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7292" y="1741932"/>
            <a:ext cx="1142634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9251168" y="243687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5" name="Shape 23"/>
          <p:cNvSpPr/>
          <p:nvPr/>
        </p:nvSpPr>
        <p:spPr>
          <a:xfrm>
            <a:off x="9251168" y="2740914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6" name="Shape 24"/>
          <p:cNvSpPr/>
          <p:nvPr/>
        </p:nvSpPr>
        <p:spPr>
          <a:xfrm>
            <a:off x="9251168" y="304495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7" name="Shape 25"/>
          <p:cNvSpPr/>
          <p:nvPr/>
        </p:nvSpPr>
        <p:spPr>
          <a:xfrm>
            <a:off x="9251168" y="3348990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19771" y="1741932"/>
            <a:ext cx="1142634" cy="43434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19771" y="1741932"/>
            <a:ext cx="1142634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0523647" y="2436876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23647" y="2740914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23647" y="3044952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23647" y="3348990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4" name="Shape 32"/>
          <p:cNvSpPr/>
          <p:nvPr/>
        </p:nvSpPr>
        <p:spPr>
          <a:xfrm>
            <a:off x="6758148" y="4347972"/>
            <a:ext cx="623255" cy="745282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8148" y="4347972"/>
            <a:ext cx="623255" cy="745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BADGE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744968" y="4347972"/>
            <a:ext cx="623255" cy="745282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44968" y="4347972"/>
            <a:ext cx="623255" cy="745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BADGE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731788" y="4347972"/>
            <a:ext cx="623255" cy="745282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31788" y="4347972"/>
            <a:ext cx="623255" cy="745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BADGE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718609" y="4347972"/>
            <a:ext cx="623255" cy="745282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18609" y="4347972"/>
            <a:ext cx="623255" cy="745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BADGE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705429" y="4347972"/>
            <a:ext cx="623255" cy="745282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05429" y="4347972"/>
            <a:ext cx="623255" cy="745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BADGE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roadmap with checkmarks is a promise-keeping record, not a wish list.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 ·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[ 4.1 ]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Stats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big numbers proving the tech works at scale.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[ACTIVE CUSTOMERS] · [PLATFORMS SUPPORTED]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[TRANSACTION VOLUME PROCESSED] · [DATA POINTS MONITORED]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[COUNTRIES SERVED] · [CATALOG / DATASET SIZE]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[MONTHLY VISITS] · [UPTIME %]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number 60pt+, small label under each. No sentences.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2002536"/>
            <a:ext cx="1090696" cy="147675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2132838"/>
            <a:ext cx="1090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54272" y="2871216"/>
            <a:ext cx="10906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900782" y="2002536"/>
            <a:ext cx="1090696" cy="147675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0782" y="2132838"/>
            <a:ext cx="1090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00782" y="2871216"/>
            <a:ext cx="10906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147292" y="2002536"/>
            <a:ext cx="1090696" cy="147675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7292" y="2132838"/>
            <a:ext cx="1090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7292" y="2871216"/>
            <a:ext cx="10906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0393802" y="2002536"/>
            <a:ext cx="1090696" cy="147675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93802" y="2132838"/>
            <a:ext cx="1090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93802" y="2871216"/>
            <a:ext cx="10906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654272" y="3826764"/>
            <a:ext cx="1090696" cy="147675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4272" y="3957066"/>
            <a:ext cx="1090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54272" y="4695444"/>
            <a:ext cx="10906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900782" y="3826764"/>
            <a:ext cx="1090696" cy="147675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782" y="3957066"/>
            <a:ext cx="1090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00782" y="4695444"/>
            <a:ext cx="10906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9147292" y="3826764"/>
            <a:ext cx="1090696" cy="147675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7292" y="3957066"/>
            <a:ext cx="1090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7292" y="4695444"/>
            <a:ext cx="10906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0393802" y="3826764"/>
            <a:ext cx="1090696" cy="1476756"/>
          </a:xfrm>
          <a:prstGeom prst="rect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93802" y="3957066"/>
            <a:ext cx="1090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393802" y="4695444"/>
            <a:ext cx="10906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9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claims are cheap. Volume numbers are receipts.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 ·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[ 4.2 ]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Diagram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simplified block diagram. Real engineering, safe level of detail.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Blocks: [FRONTEND] · [APIs] · [DATABASES] · [WORKERS] · [QUEUES]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flow between blocks, label the stack generically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to prove a real engineering org built this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NEVER: security-sensitive detail, exact service names, anything an attacker could map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004658" y="1698498"/>
            <a:ext cx="2077517" cy="56464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4658" y="1698498"/>
            <a:ext cx="2077517" cy="5646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004658" y="2610612"/>
            <a:ext cx="2077517" cy="564642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4658" y="2610612"/>
            <a:ext cx="2077517" cy="5646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LAYER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758148" y="3522726"/>
            <a:ext cx="1350386" cy="56464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8148" y="3522726"/>
            <a:ext cx="1350386" cy="5646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368223" y="3522726"/>
            <a:ext cx="1350386" cy="56464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8223" y="3522726"/>
            <a:ext cx="1350386" cy="5646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9978299" y="3522726"/>
            <a:ext cx="1350386" cy="56464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8299" y="3522726"/>
            <a:ext cx="1350386" cy="5646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758148" y="4434840"/>
            <a:ext cx="4570537" cy="564642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8148" y="4434840"/>
            <a:ext cx="4570537" cy="5646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INTEGRATIONS / EXTERNAL PLATFORMS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758148" y="5216652"/>
            <a:ext cx="4570537" cy="434340"/>
          </a:xfrm>
          <a:prstGeom prst="rect">
            <a:avLst/>
          </a:prstGeom>
          <a:solidFill>
            <a:srgbClr val="F5F4F1"/>
          </a:solidFill>
          <a:ln w="12700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8148" y="5216652"/>
            <a:ext cx="4570537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IT GENERIC. THIS SLIDE LEAKS IF YOU DON'T.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CTO on the buy side needs one look that says 'this scales'. That's the whole job.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05 · COMPETITIVE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[ 5.1 ]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Positioning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in point-solution buckets around you. You in the center, all-in-one.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buckets: [POINT SOLUTION A] · [POINT SOLUTION B] · [POINT SOLUTION C]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in the center as the only complete platform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Moats box, 4 items: [UNIQUE TECH] · [BRAND] · [RELATIONSHIPS] · [BREADTH]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real competitors. Vagueness reads as fear.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741932"/>
            <a:ext cx="145426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741932"/>
            <a:ext cx="1454262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 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9978299" y="1741932"/>
            <a:ext cx="145426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78299" y="1741932"/>
            <a:ext cx="1454262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 B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654272" y="3870198"/>
            <a:ext cx="145426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4272" y="3870198"/>
            <a:ext cx="1454262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 C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978299" y="3870198"/>
            <a:ext cx="145426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8299" y="3870198"/>
            <a:ext cx="1454262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 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368223" y="2697480"/>
            <a:ext cx="1350386" cy="1614777"/>
          </a:xfrm>
          <a:prstGeom prst="ellipse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8223" y="2697480"/>
            <a:ext cx="1350386" cy="1614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368223" y="2697480"/>
            <a:ext cx="1350386" cy="1614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85278" y="5129784"/>
            <a:ext cx="3116275" cy="521208"/>
          </a:xfrm>
          <a:prstGeom prst="rect">
            <a:avLst/>
          </a:prstGeom>
          <a:solidFill>
            <a:srgbClr val="C2A878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85278" y="5129784"/>
            <a:ext cx="3116275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MOATS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market + one integrated player = the consolidation story buyers want to fund.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05 · COMPETITIVE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[ 5.2 ]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Comparison Matrix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of capabilities, columns of named competitors. Your column is full.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8-10 capability rows [THE JOBS THAT MATTER TO CUSTOMERS]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you + 6-10 named competitors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column: complete. Their columns: honest.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competitors their real partial checkmarks. It reads more credible.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741932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6884" y="1741932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19497" y="1741932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02110" y="1741932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4722" y="1741932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67335" y="1741932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49948" y="1741932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4272" y="2166620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6884" y="216662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6884" y="2166620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8019497" y="216662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2110" y="216662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2110" y="2166620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9384722" y="216662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84722" y="2166620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0067335" y="216662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49948" y="216662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49948" y="2166620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654272" y="2591308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6884" y="259130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36884" y="2591308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8019497" y="259130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9497" y="2591308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702110" y="259130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2110" y="2591308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9384722" y="259130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67335" y="259130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67335" y="2591308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0749948" y="259130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49948" y="2591308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654272" y="3015996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36884" y="301599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36884" y="3015996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8019497" y="301599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19497" y="3015996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8702110" y="301599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84722" y="301599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84722" y="3015996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10067335" y="301599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67335" y="3015996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749948" y="301599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54272" y="3440684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36884" y="3440684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6884" y="3440684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8019497" y="3440684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02110" y="3440684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02110" y="3440684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9384722" y="3440684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84722" y="3440684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10067335" y="3440684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749948" y="3440684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749948" y="3440684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6654272" y="3865372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36884" y="3865372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36884" y="3865372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8019497" y="3865372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19497" y="3865372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8702110" y="3865372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02110" y="3865372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9384722" y="3865372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067335" y="3865372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067335" y="3865372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0749948" y="3865372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749948" y="3865372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654272" y="4290060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336884" y="429006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36884" y="4290060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8019497" y="429006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19497" y="4290060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8702110" y="429006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384722" y="429006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384722" y="4290060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10067335" y="429006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067335" y="4290060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749948" y="4290060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54272" y="4714748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36884" y="471474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36884" y="4714748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8019497" y="471474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02110" y="471474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702110" y="4714748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9384722" y="471474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84722" y="4714748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10067335" y="471474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749948" y="4714748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749948" y="4714748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6654272" y="5139436"/>
            <a:ext cx="682613" cy="42468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6884" y="513943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336884" y="5139436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8019497" y="513943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019497" y="5139436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8702110" y="513943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702110" y="5139436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9384722" y="513943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067335" y="513943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067335" y="5139436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10749948" y="5139436"/>
            <a:ext cx="682613" cy="42468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749948" y="5139436"/>
            <a:ext cx="68261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matrix survives diligence. An inflated one dies there and takes trust with it.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06 · CUSTOMERS &amp; MARKETING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[ 6.1 ]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 Strategy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funnel, every channel labeled. The frame that wins: low-touch.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Channels: [INFLUENCERS / PARTNERS] · [EDUCATIONAL CONTENT] · [SEO] · [PPC] · [SOCIAL] · [WORD OF MOUTH]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Drawn as a funnel, top of funnel to activation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frame: 'no-touch' or low-touch acquisition engine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per channel on the role it plays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62023" y="1741932"/>
            <a:ext cx="4362785" cy="521208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62023" y="1741932"/>
            <a:ext cx="4362785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AWARENESS: CONTENT + INFLUENCERS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167418" y="2458593"/>
            <a:ext cx="3751995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67418" y="2458593"/>
            <a:ext cx="3751995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TRAFFIC: SEO + PPC + SOCIAL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72813" y="3175254"/>
            <a:ext cx="3141205" cy="521208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2813" y="3175254"/>
            <a:ext cx="3141205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778208" y="3891915"/>
            <a:ext cx="2530415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8208" y="3891915"/>
            <a:ext cx="2530415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TRIALS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83603" y="4608576"/>
            <a:ext cx="1919626" cy="521208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3603" y="4608576"/>
            <a:ext cx="191962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CUSTOMERS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pay premiums for growth engines that don't depend on hiring a sales army.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06 · CUSTOMERS &amp; MARKETING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[ 6.2 ]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Generation Numbers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funnel again, this time with real conversion math.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[TOTAL SESSIONS] -&gt; [NEW VISITORS] -&gt; [SIGNUPS] -&gt; [TRIALS] -&gt; [ACTIVATIONS]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[% CONVERSION] chip at every step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Lead-mix pie: [ORGANIC %] / [PARTNERSHIP %] / [PAID %]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higher your organic share, the better this slide reads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06210" y="1741932"/>
            <a:ext cx="3116275" cy="477774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6210" y="1741932"/>
            <a:ext cx="3116275" cy="477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[SESSIONS]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924349" y="2436876"/>
            <a:ext cx="2679997" cy="477774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24349" y="2436876"/>
            <a:ext cx="2679997" cy="477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[VISITORS]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42488" y="3131820"/>
            <a:ext cx="2243718" cy="477774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42488" y="3131820"/>
            <a:ext cx="2243718" cy="477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[SIGNUPS]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360627" y="3826764"/>
            <a:ext cx="1807440" cy="477774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627" y="3826764"/>
            <a:ext cx="1807440" cy="477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[TRIALS]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578767" y="4521708"/>
            <a:ext cx="1371161" cy="477774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8767" y="4521708"/>
            <a:ext cx="1371161" cy="477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[ACTIVE]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978299" y="2045970"/>
            <a:ext cx="519379" cy="390906"/>
          </a:xfrm>
          <a:prstGeom prst="rect">
            <a:avLst/>
          </a:prstGeom>
          <a:solidFill>
            <a:srgbClr val="C2A878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78299" y="2045970"/>
            <a:ext cx="519379" cy="3909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978299" y="2740914"/>
            <a:ext cx="519379" cy="390906"/>
          </a:xfrm>
          <a:prstGeom prst="rect">
            <a:avLst/>
          </a:prstGeom>
          <a:solidFill>
            <a:srgbClr val="C2A878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78299" y="2740914"/>
            <a:ext cx="519379" cy="3909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9978299" y="3435858"/>
            <a:ext cx="519379" cy="390906"/>
          </a:xfrm>
          <a:prstGeom prst="rect">
            <a:avLst/>
          </a:prstGeom>
          <a:solidFill>
            <a:srgbClr val="C2A878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78299" y="3435858"/>
            <a:ext cx="519379" cy="3909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978299" y="4130802"/>
            <a:ext cx="519379" cy="390906"/>
          </a:xfrm>
          <a:prstGeom prst="rect">
            <a:avLst/>
          </a:prstGeom>
          <a:solidFill>
            <a:srgbClr val="C2A878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78299" y="4130802"/>
            <a:ext cx="519379" cy="3909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0601554" y="4174236"/>
            <a:ext cx="882945" cy="1055816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1554" y="4174236"/>
            <a:ext cx="882945" cy="105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funnel with percentages says 'we know our machine'. That certainty is worth multiple turns.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06 · CUSTOMERS &amp; MARKETING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[ 6.3 ]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 Channel Deep-Dive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full slide on whatever channel drives most of your growth.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overview: how the channel works for you, 4-5 bullets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stat chips: [ACTIVE PARTNERS] · [% OF SPEND] · [NEW TRIALS / QTR] · [REACH DRIVEN]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KPIs you track on this channel, listed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channel goes next [NEW AUDIENCES / GEOS]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741932"/>
            <a:ext cx="2856586" cy="238887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741932"/>
            <a:ext cx="2856586" cy="23888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810085" y="2263140"/>
            <a:ext cx="244108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0085" y="2610612"/>
            <a:ext cx="244108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4" name="Shape 12"/>
          <p:cNvSpPr/>
          <p:nvPr/>
        </p:nvSpPr>
        <p:spPr>
          <a:xfrm>
            <a:off x="6810085" y="2958084"/>
            <a:ext cx="244108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810085" y="3305556"/>
            <a:ext cx="244108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810085" y="3653028"/>
            <a:ext cx="1513471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9770547" y="1741932"/>
            <a:ext cx="779069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0547" y="1741932"/>
            <a:ext cx="779069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[STAT]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10653492" y="1741932"/>
            <a:ext cx="779069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53492" y="1741932"/>
            <a:ext cx="779069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[STAT]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9770547" y="2436876"/>
            <a:ext cx="779069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70547" y="2436876"/>
            <a:ext cx="779069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[STAT]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10653492" y="2436876"/>
            <a:ext cx="779069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53492" y="2436876"/>
            <a:ext cx="779069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[STAT]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9770547" y="3218688"/>
            <a:ext cx="1662013" cy="912114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70547" y="3218688"/>
            <a:ext cx="1662013" cy="9121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 TRACKED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654272" y="4434840"/>
            <a:ext cx="4778289" cy="1129284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4272" y="4434840"/>
            <a:ext cx="4778289" cy="11292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GOES NEXT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810085" y="4912614"/>
            <a:ext cx="436278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0" name="Shape 28"/>
          <p:cNvSpPr/>
          <p:nvPr/>
        </p:nvSpPr>
        <p:spPr>
          <a:xfrm>
            <a:off x="6810085" y="5151501"/>
            <a:ext cx="270492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one channel rigorously proves you can scale ANY channel with the buyer's money.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06 · CUSTOMERS &amp; MARKETING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[ 6.4 ]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Customer Profiles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archetypes, anonymized or permissioned. Never leak real customer data.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archetype: who they are, 2 lines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use you for: 3 checkmark outcomes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each archetype to an addressable-population number from Section 2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[ARCHETYPE 1: BEGINNER] · [ARCHETYPE 2: PRO] · [ARCHETYPE 3: ADJACENT]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02334" y="1741932"/>
            <a:ext cx="1558138" cy="269290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2334" y="1741932"/>
            <a:ext cx="1558138" cy="26929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ARCHETYPE 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7069775" y="2089404"/>
            <a:ext cx="519379" cy="62106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58148" y="3044952"/>
            <a:ext cx="1246510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4" name="Shape 12"/>
          <p:cNvSpPr/>
          <p:nvPr/>
        </p:nvSpPr>
        <p:spPr>
          <a:xfrm>
            <a:off x="6758148" y="3305556"/>
            <a:ext cx="1246510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758148" y="3566160"/>
            <a:ext cx="1246510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758148" y="3826764"/>
            <a:ext cx="77283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602334" y="4695444"/>
            <a:ext cx="1558138" cy="608076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2334" y="4695444"/>
            <a:ext cx="1558138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[POPULATION N]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8316285" y="1741932"/>
            <a:ext cx="1558138" cy="269290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16285" y="1741932"/>
            <a:ext cx="1558138" cy="26929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ARCHETYPE 2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8783726" y="2089404"/>
            <a:ext cx="519379" cy="62106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72099" y="3044952"/>
            <a:ext cx="1246510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3" name="Shape 21"/>
          <p:cNvSpPr/>
          <p:nvPr/>
        </p:nvSpPr>
        <p:spPr>
          <a:xfrm>
            <a:off x="8472099" y="3305556"/>
            <a:ext cx="1246510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4" name="Shape 22"/>
          <p:cNvSpPr/>
          <p:nvPr/>
        </p:nvSpPr>
        <p:spPr>
          <a:xfrm>
            <a:off x="8472099" y="3566160"/>
            <a:ext cx="1246510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5" name="Shape 23"/>
          <p:cNvSpPr/>
          <p:nvPr/>
        </p:nvSpPr>
        <p:spPr>
          <a:xfrm>
            <a:off x="8472099" y="3826764"/>
            <a:ext cx="77283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6" name="Shape 24"/>
          <p:cNvSpPr/>
          <p:nvPr/>
        </p:nvSpPr>
        <p:spPr>
          <a:xfrm>
            <a:off x="8316285" y="4695444"/>
            <a:ext cx="1558138" cy="608076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16285" y="4695444"/>
            <a:ext cx="1558138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[POPULATION N]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0030236" y="1741932"/>
            <a:ext cx="1558138" cy="269290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30236" y="1741932"/>
            <a:ext cx="1558138" cy="26929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ARCHETYPE 3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0497678" y="2089404"/>
            <a:ext cx="519379" cy="621068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6050" y="3044952"/>
            <a:ext cx="1246510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86050" y="3305556"/>
            <a:ext cx="1246510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86050" y="3566160"/>
            <a:ext cx="1246510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86050" y="3826764"/>
            <a:ext cx="77283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30236" y="4695444"/>
            <a:ext cx="1558138" cy="608076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30236" y="4695444"/>
            <a:ext cx="1558138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[POPULATION N]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Archetypes let the buyer multiply: 'this person x that population = the growth math'.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06 · CUSTOMERS &amp; MARKETING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[ 6.5 ]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Economics: The Deal-Makers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charts. If your numbers are good, this is what sells the company.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payback by monthly cohort: bar per cohort, [MEDIAN X.X MONTHS] called out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 LTV / CAC by cohort age: line per quarterly cohort, [MEDIAN X.Xx]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retention: [XX %] of last year's cohorts retained this year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chart gets a commentary column: how the metric is calculated, in plain language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698498"/>
            <a:ext cx="2285268" cy="182422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698498"/>
            <a:ext cx="2285268" cy="18242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 PAYBACK / COHORT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856343" y="2293544"/>
            <a:ext cx="154191" cy="1055446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103048" y="2469452"/>
            <a:ext cx="154191" cy="879539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349753" y="2762631"/>
            <a:ext cx="154191" cy="586359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596458" y="2856448"/>
            <a:ext cx="154191" cy="492542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843163" y="2879903"/>
            <a:ext cx="154191" cy="469087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089868" y="2903357"/>
            <a:ext cx="154191" cy="445633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8336573" y="2926812"/>
            <a:ext cx="154191" cy="422178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583278" y="2938539"/>
            <a:ext cx="154191" cy="410451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7292" y="1698498"/>
            <a:ext cx="2285268" cy="182422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7292" y="1698498"/>
            <a:ext cx="2285268" cy="18242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LTV/CAC BY AGE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349363" y="3114446"/>
            <a:ext cx="154191" cy="234544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23" name="Shape 21"/>
          <p:cNvSpPr/>
          <p:nvPr/>
        </p:nvSpPr>
        <p:spPr>
          <a:xfrm>
            <a:off x="9596068" y="2973720"/>
            <a:ext cx="154191" cy="375270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24" name="Shape 22"/>
          <p:cNvSpPr/>
          <p:nvPr/>
        </p:nvSpPr>
        <p:spPr>
          <a:xfrm>
            <a:off x="9842773" y="2821267"/>
            <a:ext cx="154191" cy="527723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89478" y="2668814"/>
            <a:ext cx="154191" cy="680176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36183" y="2528087"/>
            <a:ext cx="154191" cy="820903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82888" y="2387361"/>
            <a:ext cx="154191" cy="961629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29594" y="2270089"/>
            <a:ext cx="154191" cy="1078901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76299" y="2176272"/>
            <a:ext cx="154191" cy="1172718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30" name="Shape 28"/>
          <p:cNvSpPr/>
          <p:nvPr/>
        </p:nvSpPr>
        <p:spPr>
          <a:xfrm>
            <a:off x="6654272" y="3739896"/>
            <a:ext cx="2285268" cy="182422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4272" y="3739896"/>
            <a:ext cx="2285268" cy="18242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 [XX%]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871762" y="4217670"/>
            <a:ext cx="205588" cy="1172718"/>
          </a:xfrm>
          <a:prstGeom prst="rect">
            <a:avLst/>
          </a:prstGeom>
          <a:solidFill>
            <a:srgbClr val="8F9093"/>
          </a:solidFill>
          <a:ln/>
        </p:spPr>
      </p:sp>
      <p:sp>
        <p:nvSpPr>
          <p:cNvPr id="33" name="Shape 31"/>
          <p:cNvSpPr/>
          <p:nvPr/>
        </p:nvSpPr>
        <p:spPr>
          <a:xfrm>
            <a:off x="7200702" y="4299760"/>
            <a:ext cx="205588" cy="1090628"/>
          </a:xfrm>
          <a:prstGeom prst="rect">
            <a:avLst/>
          </a:prstGeom>
          <a:solidFill>
            <a:srgbClr val="8F9093"/>
          </a:solidFill>
          <a:ln/>
        </p:spPr>
      </p:sp>
      <p:sp>
        <p:nvSpPr>
          <p:cNvPr id="34" name="Shape 32"/>
          <p:cNvSpPr/>
          <p:nvPr/>
        </p:nvSpPr>
        <p:spPr>
          <a:xfrm>
            <a:off x="7529642" y="4334942"/>
            <a:ext cx="205588" cy="1055446"/>
          </a:xfrm>
          <a:prstGeom prst="rect">
            <a:avLst/>
          </a:prstGeom>
          <a:solidFill>
            <a:srgbClr val="8F9093"/>
          </a:solidFill>
          <a:ln/>
        </p:spPr>
      </p:sp>
      <p:sp>
        <p:nvSpPr>
          <p:cNvPr id="35" name="Shape 33"/>
          <p:cNvSpPr/>
          <p:nvPr/>
        </p:nvSpPr>
        <p:spPr>
          <a:xfrm>
            <a:off x="7858582" y="4358396"/>
            <a:ext cx="205588" cy="1031992"/>
          </a:xfrm>
          <a:prstGeom prst="rect">
            <a:avLst/>
          </a:prstGeom>
          <a:solidFill>
            <a:srgbClr val="8F9093"/>
          </a:solidFill>
          <a:ln/>
        </p:spPr>
      </p:sp>
      <p:sp>
        <p:nvSpPr>
          <p:cNvPr id="36" name="Shape 34"/>
          <p:cNvSpPr/>
          <p:nvPr/>
        </p:nvSpPr>
        <p:spPr>
          <a:xfrm>
            <a:off x="8187522" y="4370123"/>
            <a:ext cx="205588" cy="1020265"/>
          </a:xfrm>
          <a:prstGeom prst="rect">
            <a:avLst/>
          </a:prstGeom>
          <a:solidFill>
            <a:srgbClr val="8F9093"/>
          </a:solidFill>
          <a:ln/>
        </p:spPr>
      </p:sp>
      <p:sp>
        <p:nvSpPr>
          <p:cNvPr id="37" name="Shape 35"/>
          <p:cNvSpPr/>
          <p:nvPr/>
        </p:nvSpPr>
        <p:spPr>
          <a:xfrm>
            <a:off x="8516463" y="4381851"/>
            <a:ext cx="205588" cy="1008537"/>
          </a:xfrm>
          <a:prstGeom prst="rect">
            <a:avLst/>
          </a:prstGeom>
          <a:solidFill>
            <a:srgbClr val="8F9093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7292" y="3739896"/>
            <a:ext cx="2285268" cy="1824228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7292" y="3739896"/>
            <a:ext cx="2285268" cy="18242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COMMENTARY: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CALCULATE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9303106" y="4608576"/>
            <a:ext cx="1973641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41" name="Shape 39"/>
          <p:cNvSpPr/>
          <p:nvPr/>
        </p:nvSpPr>
        <p:spPr>
          <a:xfrm>
            <a:off x="9303106" y="4869180"/>
            <a:ext cx="1973641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42" name="Shape 40"/>
          <p:cNvSpPr/>
          <p:nvPr/>
        </p:nvSpPr>
        <p:spPr>
          <a:xfrm>
            <a:off x="9303106" y="5129784"/>
            <a:ext cx="122365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matters more than magnitude. 22 boring, similar cohorts beat 3 spectacular ones.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07 · FUTURE GROWTH DRIVERS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[ 7.1 ]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 Strategy Overview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labeled levers, 3-4 checkmarks each. The buyer's shopping list.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[PRODUCT DEVELOPMENT] · [DEEPEN EXISTING CHANNELS]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[NEW CUSTOMER SEGMENT] · [MARKETING EXPANSION]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[CONVERSION + RETENTION] · [ADJACENT OFFERINGS]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box: 3-4 concrete, named initiatives. No vibes.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741932"/>
            <a:ext cx="1506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741932"/>
            <a:ext cx="15062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 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784116" y="2350008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116" y="2654046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4" name="Shape 12"/>
          <p:cNvSpPr/>
          <p:nvPr/>
        </p:nvSpPr>
        <p:spPr>
          <a:xfrm>
            <a:off x="6784116" y="2958084"/>
            <a:ext cx="74063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8316285" y="1741932"/>
            <a:ext cx="1506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6285" y="1741932"/>
            <a:ext cx="15062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 2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8446130" y="2350008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6130" y="2654046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446130" y="2958084"/>
            <a:ext cx="74063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0" name="Shape 18"/>
          <p:cNvSpPr/>
          <p:nvPr/>
        </p:nvSpPr>
        <p:spPr>
          <a:xfrm>
            <a:off x="9978299" y="1741932"/>
            <a:ext cx="1506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78299" y="1741932"/>
            <a:ext cx="15062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 3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0108143" y="2350008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08143" y="2654046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08143" y="2958084"/>
            <a:ext cx="74063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654272" y="3739896"/>
            <a:ext cx="1506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4272" y="3739896"/>
            <a:ext cx="15062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 4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784116" y="4347972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8" name="Shape 26"/>
          <p:cNvSpPr/>
          <p:nvPr/>
        </p:nvSpPr>
        <p:spPr>
          <a:xfrm>
            <a:off x="6784116" y="4652010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9" name="Shape 27"/>
          <p:cNvSpPr/>
          <p:nvPr/>
        </p:nvSpPr>
        <p:spPr>
          <a:xfrm>
            <a:off x="6784116" y="4956048"/>
            <a:ext cx="74063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0" name="Shape 28"/>
          <p:cNvSpPr/>
          <p:nvPr/>
        </p:nvSpPr>
        <p:spPr>
          <a:xfrm>
            <a:off x="8316285" y="3739896"/>
            <a:ext cx="1506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16285" y="3739896"/>
            <a:ext cx="15062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 5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8446130" y="4347972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446130" y="4652010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4" name="Shape 32"/>
          <p:cNvSpPr/>
          <p:nvPr/>
        </p:nvSpPr>
        <p:spPr>
          <a:xfrm>
            <a:off x="8446130" y="4956048"/>
            <a:ext cx="74063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5" name="Shape 33"/>
          <p:cNvSpPr/>
          <p:nvPr/>
        </p:nvSpPr>
        <p:spPr>
          <a:xfrm>
            <a:off x="9978299" y="3739896"/>
            <a:ext cx="1506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78299" y="3739896"/>
            <a:ext cx="15062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 6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0108143" y="4347972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08143" y="4652010"/>
            <a:ext cx="1194572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08143" y="4956048"/>
            <a:ext cx="74063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is what the buyer's money buys. Write it as their plan, not yours.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07 · FUTURE GROWTH DRIVERS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[ 7.2 ]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Slide Per Lever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each of the 6 boxes into its own slide. Repeat this pattern.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lever, restated as an outcome [MORE OF WHAT, FOR WHOM]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named initiatives with what each unlocks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already in motion vs what needs investment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every lever must be something the BUYER'S resources accelerate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741932"/>
            <a:ext cx="4778289" cy="608076"/>
          </a:xfrm>
          <a:prstGeom prst="rect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741932"/>
            <a:ext cx="4778289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 RESTATED AS OUTCOME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654272" y="2610612"/>
            <a:ext cx="2285268" cy="238887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4272" y="2610612"/>
            <a:ext cx="2285268" cy="23888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MOTION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810085" y="3131820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810085" y="3479292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810085" y="3826764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810085" y="4174236"/>
            <a:ext cx="119145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7292" y="2610612"/>
            <a:ext cx="2285268" cy="238887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7292" y="2610612"/>
            <a:ext cx="2285268" cy="23888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 INVESTMENT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9303106" y="3131820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1" name="Shape 19"/>
          <p:cNvSpPr/>
          <p:nvPr/>
        </p:nvSpPr>
        <p:spPr>
          <a:xfrm>
            <a:off x="9303106" y="3479292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2" name="Shape 20"/>
          <p:cNvSpPr/>
          <p:nvPr/>
        </p:nvSpPr>
        <p:spPr>
          <a:xfrm>
            <a:off x="9303106" y="3826764"/>
            <a:ext cx="1921703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3" name="Shape 21"/>
          <p:cNvSpPr/>
          <p:nvPr/>
        </p:nvSpPr>
        <p:spPr>
          <a:xfrm>
            <a:off x="9303106" y="4174236"/>
            <a:ext cx="119145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4" name="Shape 22"/>
          <p:cNvSpPr/>
          <p:nvPr/>
        </p:nvSpPr>
        <p:spPr>
          <a:xfrm>
            <a:off x="6654272" y="5216652"/>
            <a:ext cx="4778289" cy="434340"/>
          </a:xfrm>
          <a:prstGeom prst="rect">
            <a:avLst/>
          </a:prstGeom>
          <a:solidFill>
            <a:srgbClr val="C2A878"/>
          </a:solidFill>
          <a:ln w="12700">
            <a:solidFill>
              <a:srgbClr val="8F90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4272" y="5216652"/>
            <a:ext cx="4778289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BUYER ACCELERATES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selling the map of what their money buys. Make every lever fundable.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08 · OPERATIONS &amp; TRANSACTION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[ 8.1 ]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&amp; Organization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behind the product, at diligence-ready detail.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[HEADCOUNT] across [N COUNTRIES], department split in a small table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 pie + 3-4 bullets on how the org actually runs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chart: boxes by function with headcounts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names below founder level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741932"/>
            <a:ext cx="865632" cy="312725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19904" y="1741932"/>
            <a:ext cx="865632" cy="312725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5536" y="1741932"/>
            <a:ext cx="865632" cy="312725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4272" y="2054657"/>
            <a:ext cx="865632" cy="312725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19904" y="2054657"/>
            <a:ext cx="865632" cy="312725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5536" y="2054657"/>
            <a:ext cx="865632" cy="312725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4272" y="2367382"/>
            <a:ext cx="865632" cy="312725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19904" y="2367382"/>
            <a:ext cx="865632" cy="312725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536" y="2367382"/>
            <a:ext cx="865632" cy="312725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54272" y="2680106"/>
            <a:ext cx="865632" cy="312725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9904" y="2680106"/>
            <a:ext cx="865632" cy="312725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85536" y="2680106"/>
            <a:ext cx="865632" cy="312725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4272" y="2992831"/>
            <a:ext cx="865632" cy="312725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9904" y="2992831"/>
            <a:ext cx="865632" cy="312725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85536" y="2992831"/>
            <a:ext cx="865632" cy="312725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4423" y="1828800"/>
            <a:ext cx="1350386" cy="1614777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4423" y="1828800"/>
            <a:ext cx="1350386" cy="1614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 %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004658" y="3739896"/>
            <a:ext cx="2077517" cy="434340"/>
          </a:xfrm>
          <a:prstGeom prst="rect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4658" y="3739896"/>
            <a:ext cx="2077517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706210" y="4521708"/>
            <a:ext cx="1038758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6210" y="4521708"/>
            <a:ext cx="1038758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7952720" y="4521708"/>
            <a:ext cx="1038758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2720" y="4521708"/>
            <a:ext cx="1038758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9199230" y="4521708"/>
            <a:ext cx="1038758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99230" y="4521708"/>
            <a:ext cx="1038758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10445740" y="4521708"/>
            <a:ext cx="1038758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45740" y="4521708"/>
            <a:ext cx="1038758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6706210" y="5129784"/>
            <a:ext cx="1038758" cy="43434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06210" y="5129784"/>
            <a:ext cx="1038758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7952720" y="5129784"/>
            <a:ext cx="1038758" cy="43434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2720" y="5129784"/>
            <a:ext cx="1038758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9199230" y="5129784"/>
            <a:ext cx="1038758" cy="43434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99230" y="5129784"/>
            <a:ext cx="1038758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10445740" y="5129784"/>
            <a:ext cx="1038758" cy="434340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45740" y="5129784"/>
            <a:ext cx="1038758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org that runs on structure, not on the founder's memory, is an org that survives the founder leaving.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08 · OPERATIONS &amp; TRANSACTION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[ 8.2 ]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Systems &amp; Corporate Details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business runs on systems. State the ownership cleanly.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stack by category: [ERP] · [HRIS] · [INVOICING] · [COMMS] · [REPORTING]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structure: [ENTITY TYPE + JURISDICTION]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summary at the level your process stage requires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conversations: 'founder-owned, bootstrapped' is enough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741932"/>
            <a:ext cx="1506200" cy="78181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741932"/>
            <a:ext cx="1506200" cy="7818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CAT.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8316285" y="1741932"/>
            <a:ext cx="1506200" cy="78181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6285" y="1741932"/>
            <a:ext cx="1506200" cy="7818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CAT.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9978299" y="1741932"/>
            <a:ext cx="1506200" cy="78181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78299" y="1741932"/>
            <a:ext cx="1506200" cy="7818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CAT.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6654272" y="2784348"/>
            <a:ext cx="1506200" cy="78181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4272" y="2784348"/>
            <a:ext cx="1506200" cy="7818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CAT.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8316285" y="2784348"/>
            <a:ext cx="1506200" cy="78181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6285" y="2784348"/>
            <a:ext cx="1506200" cy="7818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CAT.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978299" y="2784348"/>
            <a:ext cx="1506200" cy="781812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78299" y="2784348"/>
            <a:ext cx="1506200" cy="7818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CAT.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654272" y="4000500"/>
            <a:ext cx="4778289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4272" y="4000500"/>
            <a:ext cx="4778289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STRUCTURE + JURISDICTION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654272" y="4956048"/>
            <a:ext cx="4778289" cy="608076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4272" y="4956048"/>
            <a:ext cx="4778289" cy="6080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OWNERSHIP: FOUNDER-OWNED, BOOTSTRAPPED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named here is one less diligence question. Boring is the goal.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09 · FINANCIALS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[ 9.1 ]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Highlights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big numbers, no charts. The scoreboard.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[REVENUE LAST YEAR] · [EBITDA LAST YEAR]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[REVENUE THIS YEAR E] · [EBITDA THIS YEAR E]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[GROSS MARGIN %] · [EBITDA MARGIN %]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[CAC PAYBACK] · [LTV / CAC] · [RETENTION %]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number, small label, footnote the methodology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698498"/>
            <a:ext cx="1506200" cy="117271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785366"/>
            <a:ext cx="1506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54272" y="2393442"/>
            <a:ext cx="150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316285" y="1698498"/>
            <a:ext cx="1506200" cy="117271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6285" y="1785366"/>
            <a:ext cx="1506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16285" y="2393442"/>
            <a:ext cx="150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978299" y="1698498"/>
            <a:ext cx="1506200" cy="117271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8299" y="1785366"/>
            <a:ext cx="1506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78299" y="2393442"/>
            <a:ext cx="150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654272" y="3088386"/>
            <a:ext cx="1506200" cy="117271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4272" y="3175254"/>
            <a:ext cx="1506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54272" y="3783330"/>
            <a:ext cx="150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316285" y="3088386"/>
            <a:ext cx="1506200" cy="117271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6285" y="3175254"/>
            <a:ext cx="1506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16285" y="3783330"/>
            <a:ext cx="150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9978299" y="3088386"/>
            <a:ext cx="1506200" cy="117271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78299" y="3175254"/>
            <a:ext cx="1506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78299" y="3783330"/>
            <a:ext cx="150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654272" y="4478274"/>
            <a:ext cx="1506200" cy="117271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4272" y="4565142"/>
            <a:ext cx="1506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54272" y="5173218"/>
            <a:ext cx="150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316285" y="4478274"/>
            <a:ext cx="1506200" cy="1172718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16285" y="4565142"/>
            <a:ext cx="1506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16285" y="5173218"/>
            <a:ext cx="150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978299" y="4478274"/>
            <a:ext cx="1506200" cy="1172718"/>
          </a:xfrm>
          <a:prstGeom prst="rect">
            <a:avLst/>
          </a:prstGeom>
          <a:solidFill>
            <a:srgbClr val="292B2E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78299" y="4565142"/>
            <a:ext cx="1506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978299" y="5173218"/>
            <a:ext cx="150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9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now every number here was already earned by an earlier slide. This is just the scoreboard.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09 · FINANCIALS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[ 9.2 ]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Model &amp; Recognition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stream as a column, plus the table that makes the buy-side CFO relax.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stream: how it works, how it's priced, [% OF REVENUE]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upsell path: base plan to add-ons, drawn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Rev-rec table: contract terms · pricing · cash collection · recognition timing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[SUBSCRIPTION] · [ADD-ONS] · [USAGE / CREDITS] · [OTHER]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02334" y="1741932"/>
            <a:ext cx="1142634" cy="147675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2334" y="1741932"/>
            <a:ext cx="1142634" cy="14767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 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706210" y="2263140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706210" y="2523744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4" name="Shape 12"/>
          <p:cNvSpPr/>
          <p:nvPr/>
        </p:nvSpPr>
        <p:spPr>
          <a:xfrm>
            <a:off x="6706210" y="2784348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7874813" y="1741932"/>
            <a:ext cx="1142634" cy="147675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74813" y="1741932"/>
            <a:ext cx="1142634" cy="14767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 2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978689" y="2263140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8" name="Shape 16"/>
          <p:cNvSpPr/>
          <p:nvPr/>
        </p:nvSpPr>
        <p:spPr>
          <a:xfrm>
            <a:off x="7978689" y="2523744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9" name="Shape 17"/>
          <p:cNvSpPr/>
          <p:nvPr/>
        </p:nvSpPr>
        <p:spPr>
          <a:xfrm>
            <a:off x="7978689" y="2784348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7292" y="1741932"/>
            <a:ext cx="1142634" cy="147675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7292" y="1741932"/>
            <a:ext cx="1142634" cy="14767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 3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251168" y="2263140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3" name="Shape 21"/>
          <p:cNvSpPr/>
          <p:nvPr/>
        </p:nvSpPr>
        <p:spPr>
          <a:xfrm>
            <a:off x="9251168" y="2523744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4" name="Shape 22"/>
          <p:cNvSpPr/>
          <p:nvPr/>
        </p:nvSpPr>
        <p:spPr>
          <a:xfrm>
            <a:off x="9251168" y="2784348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19771" y="1741932"/>
            <a:ext cx="1142634" cy="1476756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19771" y="1741932"/>
            <a:ext cx="1142634" cy="14767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 4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0523647" y="2263140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23647" y="2523744"/>
            <a:ext cx="88294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23647" y="2784348"/>
            <a:ext cx="547426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01554" y="3479292"/>
            <a:ext cx="831007" cy="993709"/>
          </a:xfrm>
          <a:prstGeom prst="ellipse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1554" y="3479292"/>
            <a:ext cx="831007" cy="993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 %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602334" y="3739896"/>
            <a:ext cx="727131" cy="364846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29465" y="3739896"/>
            <a:ext cx="727131" cy="364846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56596" y="3739896"/>
            <a:ext cx="727131" cy="364846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83726" y="3739896"/>
            <a:ext cx="727131" cy="364846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10857" y="3739896"/>
            <a:ext cx="727131" cy="364846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02334" y="4104742"/>
            <a:ext cx="727131" cy="364846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29465" y="4104742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56596" y="4104742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83726" y="4104742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10857" y="4104742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02334" y="4469587"/>
            <a:ext cx="727131" cy="364846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29465" y="4469587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56596" y="4469587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83726" y="4469587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10857" y="4469587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02334" y="4834433"/>
            <a:ext cx="727131" cy="364846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29465" y="4834433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56596" y="4834433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83726" y="4834433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10857" y="4834433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02334" y="5199278"/>
            <a:ext cx="727131" cy="364846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29465" y="5199278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56596" y="5199278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83726" y="5199278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10857" y="5199278"/>
            <a:ext cx="727131" cy="364846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revenue recognition removes the deal's scariest unknown: 'is the revenue real?'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09 · FINANCIALS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[ 9.3 ]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&amp; Cost Detail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tables, with footnotes that answer questions before they're asked.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channel per year: actuals + 2 forecast years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[% OF REVENUE] and [GROWTH RATE] rows under each channel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revenue + operating expenses, same year columns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footnotes on every strategic shift and unusual 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698498"/>
            <a:ext cx="955658" cy="30403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09929" y="1698498"/>
            <a:ext cx="955658" cy="30403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65587" y="1698498"/>
            <a:ext cx="955658" cy="30403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1245" y="1698498"/>
            <a:ext cx="955658" cy="30403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76903" y="1698498"/>
            <a:ext cx="955658" cy="30403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4272" y="2002536"/>
            <a:ext cx="955658" cy="30403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9929" y="2002536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65587" y="2002536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1245" y="2002536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76903" y="2002536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54272" y="2306574"/>
            <a:ext cx="955658" cy="30403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9929" y="2306574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65587" y="2306574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21245" y="2306574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76903" y="2306574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54272" y="2610612"/>
            <a:ext cx="955658" cy="30403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09929" y="2610612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65587" y="2610612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21245" y="2610612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76903" y="2610612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54272" y="2914650"/>
            <a:ext cx="955658" cy="30403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9929" y="2914650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65587" y="2914650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21245" y="2914650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76903" y="2914650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54272" y="3218688"/>
            <a:ext cx="955658" cy="304038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09929" y="3218688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65587" y="3218688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21245" y="3218688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76903" y="3218688"/>
            <a:ext cx="955658" cy="304038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54272" y="3783330"/>
            <a:ext cx="955658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09929" y="3783330"/>
            <a:ext cx="955658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65587" y="3783330"/>
            <a:ext cx="955658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21245" y="3783330"/>
            <a:ext cx="955658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76903" y="3783330"/>
            <a:ext cx="955658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54272" y="4078681"/>
            <a:ext cx="955658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09929" y="4078681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65587" y="4078681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21245" y="4078681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76903" y="4078681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54272" y="4374032"/>
            <a:ext cx="955658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09929" y="4374032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65587" y="4374032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21245" y="4374032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476903" y="4374032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54272" y="4669384"/>
            <a:ext cx="955658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09929" y="4669384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65587" y="4669384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21245" y="4669384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76903" y="4669384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54272" y="4964735"/>
            <a:ext cx="955658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09929" y="4964735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65587" y="4964735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521245" y="4964735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76903" y="4964735"/>
            <a:ext cx="955658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54272" y="5433822"/>
            <a:ext cx="4778289" cy="304038"/>
          </a:xfrm>
          <a:prstGeom prst="rect">
            <a:avLst/>
          </a:prstGeom>
          <a:solidFill>
            <a:srgbClr val="F5F4F1"/>
          </a:solidFill>
          <a:ln w="12700">
            <a:solidFill>
              <a:srgbClr val="8F90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54272" y="5433822"/>
            <a:ext cx="4778289" cy="3040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[2] [3] FOOTNOTES = ANSWERS BEFORE QUESTIONS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footnote you write is a diligence call you don't take.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09 · FINANCIALS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85832" y="310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[ 9.4 ]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 &amp; Balance Sheet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years out, with assumptions you can defend line by line.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167128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gross profit, EBITDA + margins, 5 years forward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key forecast assumptions in plain sentences ABOVE the table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 snapshot: current assets + liabilities, last 3 year-ends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clearly if figures are unaudited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481328"/>
            <a:ext cx="5193792" cy="4343400"/>
          </a:xfrm>
          <a:prstGeom prst="rect">
            <a:avLst/>
          </a:prstGeom>
          <a:solidFill>
            <a:srgbClr val="F5F4F1"/>
          </a:solidFill>
          <a:ln w="12700">
            <a:solidFill>
              <a:srgbClr val="292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4358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54272" y="1698498"/>
            <a:ext cx="477828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4272" y="1698498"/>
            <a:ext cx="4778289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KEY ASSUMPTIONS, PLAIN SENTENCES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810085" y="2045970"/>
            <a:ext cx="4362785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0085" y="2263140"/>
            <a:ext cx="2704927" cy="95555"/>
          </a:xfrm>
          <a:prstGeom prst="rect">
            <a:avLst/>
          </a:prstGeom>
          <a:solidFill>
            <a:srgbClr val="E9E8E5"/>
          </a:solidFill>
          <a:ln/>
        </p:spPr>
      </p:sp>
      <p:sp>
        <p:nvSpPr>
          <p:cNvPr id="14" name="Shape 12"/>
          <p:cNvSpPr/>
          <p:nvPr/>
        </p:nvSpPr>
        <p:spPr>
          <a:xfrm>
            <a:off x="6654272" y="2827782"/>
            <a:ext cx="682613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36884" y="2827782"/>
            <a:ext cx="682613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9497" y="2827782"/>
            <a:ext cx="682613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02110" y="2827782"/>
            <a:ext cx="682613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84722" y="2827782"/>
            <a:ext cx="682613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67335" y="2827782"/>
            <a:ext cx="682613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49948" y="2827782"/>
            <a:ext cx="682613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4272" y="3123133"/>
            <a:ext cx="682613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6884" y="3123133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9497" y="3123133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02110" y="3123133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84722" y="3123133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67335" y="3123133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49948" y="3123133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4272" y="3418484"/>
            <a:ext cx="682613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6884" y="3418484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19497" y="3418484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02110" y="3418484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84722" y="3418484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67335" y="3418484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49948" y="3418484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54272" y="3713836"/>
            <a:ext cx="682613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36884" y="3713836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19497" y="3713836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02110" y="3713836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84722" y="3713836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67335" y="3713836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9948" y="3713836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54272" y="4009187"/>
            <a:ext cx="682613" cy="295351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36884" y="4009187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19497" y="4009187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02110" y="4009187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84722" y="4009187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67335" y="4009187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49948" y="4009187"/>
            <a:ext cx="682613" cy="295351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54272" y="4565142"/>
            <a:ext cx="779069" cy="260604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33340" y="4565142"/>
            <a:ext cx="779069" cy="260604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12409" y="4565142"/>
            <a:ext cx="779069" cy="260604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91478" y="4565142"/>
            <a:ext cx="779069" cy="260604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54272" y="4825746"/>
            <a:ext cx="779069" cy="260604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33340" y="4825746"/>
            <a:ext cx="779069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12409" y="4825746"/>
            <a:ext cx="779069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91478" y="4825746"/>
            <a:ext cx="779069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54272" y="5086350"/>
            <a:ext cx="779069" cy="260604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33340" y="5086350"/>
            <a:ext cx="779069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12409" y="5086350"/>
            <a:ext cx="779069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91478" y="5086350"/>
            <a:ext cx="779069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54272" y="5346954"/>
            <a:ext cx="779069" cy="260604"/>
          </a:xfrm>
          <a:prstGeom prst="rect">
            <a:avLst/>
          </a:prstGeom>
          <a:solidFill>
            <a:srgbClr val="E9E8E5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33340" y="5346954"/>
            <a:ext cx="779069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12409" y="5346954"/>
            <a:ext cx="779069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91478" y="5346954"/>
            <a:ext cx="779069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8F909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78299" y="4565142"/>
            <a:ext cx="1454262" cy="1042416"/>
          </a:xfrm>
          <a:prstGeom prst="rect">
            <a:avLst/>
          </a:prstGeom>
          <a:solidFill>
            <a:srgbClr val="E9E8E5"/>
          </a:solidFill>
          <a:ln w="9525">
            <a:solidFill>
              <a:srgbClr val="8F90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78299" y="4565142"/>
            <a:ext cx="1454262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'UNAUDITED'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TRUE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48640" y="6144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33172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assumptions survive negotiation. Aggressive ones become the discount.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566160" cy="402336"/>
          </a:xfrm>
          <a:prstGeom prst="rect">
            <a:avLst/>
          </a:prstGeom>
          <a:solidFill>
            <a:srgbClr val="292B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— REMOVE BEFORE PUBLISHING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rules for the social team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may never appear in the published lead magnet, the promo content, or on camera: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PDF, any screenshot of it, or its visual design. Template only.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63640" y="21945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20840" y="2194560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real AutoDS financial figure from the sale: revenue, EBITDA, margins, forecasts, costs, balance sheet, revenue mix.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9077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907792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economics values: LTV/CAC, CAC payback, retention, funnel conversions.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63640" y="29077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907792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 table, ownership percentages, share counts, or tax structure.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210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621024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bank's name, any banker's name or contact details.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36210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3621024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org data: employee vs contractor split, org chart, salaries, tools stack.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3342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334256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or store names from the deck, named suppliers, payment processor terms, platform revenue-share terms.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43342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4334256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software architecture diagram or service names.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047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5047488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internal headcount figure. Public team size is 250 employees.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1091672" cy="566928"/>
          </a:xfrm>
          <a:prstGeom prst="rect">
            <a:avLst/>
          </a:prstGeom>
          <a:solidFill>
            <a:srgbClr val="F5F4F1"/>
          </a:solidFill>
          <a:ln w="12700">
            <a:solidFill>
              <a:srgbClr val="E9E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8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 WRAPPER FACTS:  </a:t>
            </a:r>
            <a:pPr indent="0" marL="0">
              <a:buNone/>
            </a:pPr>
            <a:r>
              <a:rPr lang="en-US" sz="1050" dirty="0">
                <a:solidFill>
                  <a:srgbClr val="29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to Fiverr · the $92M exit · bootstrapped · founder-owned · two co-founders · built from Lior's own eBay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502920" cy="50292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 your numbers.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the game.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is transferable. The numbers are yours to earn.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life is beta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0" y="5989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9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@lior_pozin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2026-08-02T11:39:46Z</dcterms:created>
  <dcterms:modified xsi:type="dcterms:W3CDTF">2026-08-02T11:39:46Z</dcterms:modified>
</cp:coreProperties>
</file>