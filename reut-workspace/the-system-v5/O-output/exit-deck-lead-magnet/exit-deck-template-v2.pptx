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</p:sldIdLst>
  <p:notesMasterIdLst>
    <p:notesMasterId r:id="rId4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notesMaster" Target="notesMasters/notesMaster1.xml"/><Relationship Id="rId50" Type="http://schemas.openxmlformats.org/officeDocument/2006/relationships/presProps" Target="presProps.xml"/><Relationship Id="rId51" Type="http://schemas.openxmlformats.org/officeDocument/2006/relationships/viewProps" Target="viewProps.xml"/><Relationship Id="rId52" Type="http://schemas.openxmlformats.org/officeDocument/2006/relationships/theme" Target="theme/theme1.xml"/><Relationship Id="rId5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magnet cover. This is Lior's wrapper slide - founders keep or delete it. Everything in sand-colored [brackets] throughout the deck is theirs to replace.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Orientation slide for the founder using the template.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order is the method: story, market, product, proof, competition, growth engine, future, operations, and only then the numbers.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where the founder's own deck begins. Replace company name, date, preparer. 'Private and Confidential' appears on every page of a real CIP - add it to your master.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FILL IN: overview bullets, 7 key stats, revenue bars for last 2 actual years + current estimate, and your single best unit-economics chart. WHY: a buyer understands the whole business in 60 seconds; everything after this slide is proof.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FILL IN: 7 one-liners, each with the proof baked into the sentence (claim + number). WHY: this is the slide buyers copy into their internal investment memo. Odd count reads better than even.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FILL IN: your supply side, the platforms you plug into, and the two benefit columns. WHY: buyers pay more for businesses that improve every player's outcome, not just their 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FILL IN: 3 lifecycle stages + 1 adjacent segment that expands your TAM. WHY: a customer who grows inside your product is retention the buyer doesn't have to build.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FILL IN: 6-7 milestones. Milestone 1 should predate the company - the founder falling for the problem. WHY: buyers buy founders who lived the problem, not founders who found a market.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FILL IN: 4 bars (2 actuals, this year estimate, next year projection), 6 growth-strategy chips, 3 plan bullets. WHY: projections sit next to named strategies - every forecast dollar traces to a lever.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FILL IN: founders only, 3-4 credibility bullets each. Skip hobbies and mission statements. WHY: the buyer is underwriting the people as much as the product.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FILL IN: the two eras of your market, with a named source for each anchor stat. WHY: the buyer must believe the market already did the hard work - you're the way to ride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FILL IN: market value 5 years forward with CAGR, plus 3 supporting stats - every number needs a named third-party source. WHY: never your own estimates on this slide; borrowed authority only.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FILL IN: both calculations. WHY: anyone can inflate one method - two independent paths landing together is the credibility move.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FILL IN: 5-7 modules described as JOBS, plus the customer outcomes column. WHY: the buyer maps each module to revenue they can grow.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FILL IN: integration timeline oldest to newest, revenue mix by channel, and your deepest partnership tier. WHY: integrations are distribution; buyers price the moat and the channel.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FILL IN: your supply types (partners, inventory, data, content) with per-type advantages. WHY: breadth proves scale, exclusivity proves moat - show both numbers separately.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DUPLICATE THIS SLIDE once per core module (the original deck had 8 of these). FILL IN: real screenshot left, 3-6 job-focused checkmarks right, unique feature call-out. WHY: buyers forward the demo internally - the product sells itself before the meeting.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FILL IN: 4 quarters, 4-6 items each; check what already shipped, keep 1-2 ambitious items to signal upside. WHY: shipped-as-planned is execution proof buyers can verify.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FILL IN: ratings, partner statuses, awards, rankings - badges only. WHY: social proof the buyer can independently verify beats any claim you write.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FILL IN: 8 volume stats. Big number, small label, no sentences. WHY: engineering claims are cheap - volume numbers are receipts.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FILL IN: your stack at block-diagram level. WHY: the buy-side CTO needs one look that says 'this scales' - that's the whole job of this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FILL IN: 4 point-solution buckets with real competitor names, you in the center, 4 moats. WHY: fragmented market + one integrated player = the consolidation story buyers fund.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FILL IN: 8 capability rows that matter to customers, you + 5 named competitors. WHY: the honest matrix survives diligence and keeps trust for the negotiation.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FILL IN: your channels at each funnel stage. WHY: buyers pay premiums for 'no-touch' engines - every channel here should work while the founder sleeps.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FILL IN: absolute numbers at every stage + conversion % between stages + lead mix. WHY: a funnel with percentages says 'we know our machine' - that certainty is worth multiple turns.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FILL IN: one full slide on the channel that drives most growth - strategy, 4 stat chips, tracked KPIs. WHY: measuring one channel rigorously proves you can scale ANY channel with the buyer's money.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FILL IN: 3 archetypes, each tied back to an addressable-population number from Section 2. WHY: archetypes let the buyer multiply - this person x that population = the growth math.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FILL IN: three charts + the methodology commentary. WHY: consistency beats magnitude - 22 boring, similar cohorts beat 3 spectacular ones. If these numbers are good, this slide sells the company.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FILL IN: 6 levers, 3-4 concrete named initiatives each. No vibes. WHY: this is the buyer's shopping list - every lever should be something their resources accelerate.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DUPLICATE THIS SLIDE once per lever from 7.1. FILL IN: outcome restatement, what's in motion, what needs their investment. WHY: you're selling the map of what their money buys.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FILL IN: department table, org bullets, function boxes with headcounts. WHY: an org that runs on structure, not the founder's memory, survives the founder leaving - which is exactly what the buyer is buying.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FILL IN: the tool behind each business function, legal structure, ownership line. WHY: every tool named here is one less diligence question. Boring is the goal.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FILL IN: 9 numbers - big number, small label. WHY: the scoreboard slide. Every figure was already earned by an earlier section.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FILL IN: each stream's mechanics + the revenue recognition table. WHY: clean rev-rec removes the deal's scariest unknown - 'is the revenue real?' This table makes the buy-side CFO relax.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FILL IN: revenue by channel and costs, actuals + 2 forward years, with growth % rows and footnotes. WHY: a footnote you write is a diligence call you don't take.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FILL IN: 5-year forecast with margins, balance sheet snapshot, assumptions ABOVE the table. WHY: the forecast is a negotiation document - every line must survive being challenged.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5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222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822960"/>
            <a:ext cx="502920" cy="502920"/>
          </a:xfrm>
          <a:prstGeom prst="rect">
            <a:avLst/>
          </a:prstGeom>
          <a:ln w="19050">
            <a:solidFill>
              <a:srgbClr val="C2A87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210312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EXIT DECK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841248" y="3246120"/>
            <a:ext cx="9601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E7E6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exact presentation structure that sold my company.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E7E6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Fill in your numbers. Get buyer-ready.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41248" y="4434840"/>
            <a:ext cx="4297680" cy="457200"/>
          </a:xfrm>
          <a:prstGeom prst="rect">
            <a:avLst/>
          </a:prstGeom>
          <a:ln w="12700">
            <a:solidFill>
              <a:srgbClr val="C2A87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443484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C2A8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TEMPLATE FOR FOUNDERS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41248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2A8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life is beta ]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59893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E8F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Lior Pozin  ·  CEO &amp; Co-Founder of AutoDS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8E8F9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 HERE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0058400" y="292608"/>
            <a:ext cx="1581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83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[ 0.1 ]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A2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to use this template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3492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2A2C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819656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9E83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554480" y="183794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A2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in sand is yours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554480" y="2258568"/>
            <a:ext cx="4160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A2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[bracketed placeholder] in this sand color gets replaced with your data. Everything in dark gray stays - it's the structure that works.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63640" y="1600200"/>
            <a:ext cx="53492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2A2C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19672" y="1819656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9E83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7269480" y="183794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A2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in order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7269480" y="2258568"/>
            <a:ext cx="4160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A2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9 sections are sequenced to earn a buyer's trust before showing numbers. Keep the order.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749040"/>
            <a:ext cx="53492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2A2C2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4672" y="3968496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9E83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554480" y="398678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A2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the speaker notes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1554480" y="4407408"/>
            <a:ext cx="4160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A2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slide carries notes: what to fill in, and why the slide is built this way. The notes are the playbook.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63640" y="3749040"/>
            <a:ext cx="53492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2A2C2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19672" y="3968496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9E83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7269480" y="398678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A2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 what you can't defend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7269480" y="4407408"/>
            <a:ext cx="4160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A2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slide you can't back up in diligence is worse than no slide. If you don't have the number yet, that gap is your homework.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59893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9E83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PROMISE   </a:t>
            </a:r>
            <a:pPr indent="0" marL="0">
              <a:buNone/>
            </a:pPr>
            <a:r>
              <a:rPr lang="en-US" sz="1150" dirty="0">
                <a:solidFill>
                  <a:srgbClr val="2A2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structure took a bootstrapped company from first conversation to a signed acquisition. The numbers were ours. The structure is yours.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8E8F9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ARCHITECTURE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0058400" y="292608"/>
            <a:ext cx="1581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83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[ 0.2 ]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A2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9-section spine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361188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2A2C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76479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9E83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325880" y="1773936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A2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325880" y="216712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E8F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whole story in 8 slides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370832" y="1600200"/>
            <a:ext cx="361188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2A2C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176479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9E83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5148072" y="1773936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A2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148072" y="216712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E8F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the market makes you inevitable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193024" y="1600200"/>
            <a:ext cx="361188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2A2C2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94192" y="176479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9E83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8970264" y="1773936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A2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Solutions &amp; Technology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970264" y="216712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E8F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product actually does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3017520"/>
            <a:ext cx="361188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2A2C2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808" y="318211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9E83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1325880" y="3191256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A2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325880" y="358444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E8F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 it scales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370832" y="3017520"/>
            <a:ext cx="361188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2A2C2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0" y="318211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9E83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5148072" y="3191256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A2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Landscape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148072" y="358444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E8F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you win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193024" y="3017520"/>
            <a:ext cx="361188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2A2C2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394192" y="318211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9E83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8970264" y="3191256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A2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Customers &amp; Marketing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8970264" y="358444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E8F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engine + unit economics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48640" y="4434840"/>
            <a:ext cx="361188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2A2C2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9808" y="459943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9E83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900" dirty="0"/>
          </a:p>
        </p:txBody>
      </p:sp>
      <p:sp>
        <p:nvSpPr>
          <p:cNvPr id="31" name="Text 29"/>
          <p:cNvSpPr/>
          <p:nvPr/>
        </p:nvSpPr>
        <p:spPr>
          <a:xfrm>
            <a:off x="1325880" y="4608576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A2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Growth Drivers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1325880" y="500176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E8F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buyer's money buys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370832" y="4434840"/>
            <a:ext cx="361188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2A2C2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0" y="459943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9E83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900" dirty="0"/>
          </a:p>
        </p:txBody>
      </p:sp>
      <p:sp>
        <p:nvSpPr>
          <p:cNvPr id="35" name="Text 33"/>
          <p:cNvSpPr/>
          <p:nvPr/>
        </p:nvSpPr>
        <p:spPr>
          <a:xfrm>
            <a:off x="5148072" y="4608576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A2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 &amp; Transaction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5148072" y="500176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E8F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company behind the product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8193024" y="4434840"/>
            <a:ext cx="3611880" cy="1207008"/>
          </a:xfrm>
          <a:prstGeom prst="rect">
            <a:avLst/>
          </a:prstGeom>
          <a:solidFill>
            <a:srgbClr val="2A2C2E"/>
          </a:solidFill>
          <a:ln w="12700">
            <a:solidFill>
              <a:srgbClr val="2A2C2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394192" y="459943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2A8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900" dirty="0"/>
          </a:p>
        </p:txBody>
      </p:sp>
      <p:sp>
        <p:nvSpPr>
          <p:cNvPr id="39" name="Text 37"/>
          <p:cNvSpPr/>
          <p:nvPr/>
        </p:nvSpPr>
        <p:spPr>
          <a:xfrm>
            <a:off x="8970264" y="4608576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Financials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8970264" y="500176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7E6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numbers. Last on purpose.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E8F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Financials come last. The first eight sections earn the right to show them.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822960"/>
            <a:ext cx="457200" cy="457200"/>
          </a:xfrm>
          <a:prstGeom prst="rect">
            <a:avLst/>
          </a:prstGeom>
          <a:ln w="19050">
            <a:solidFill>
              <a:srgbClr val="C2A87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24688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C2A8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YOUR COMPANY ]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41248" y="352044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Information Presentation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41248" y="411480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8F9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MONTH YEAR ]   ·   Prepared by [ FOUNDER / ADVISOR ]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595360" y="63093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E8F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and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822960"/>
            <a:ext cx="457200" cy="457200"/>
          </a:xfrm>
          <a:prstGeom prst="rect">
            <a:avLst/>
          </a:prstGeom>
          <a:ln w="19050">
            <a:solidFill>
              <a:srgbClr val="C2A87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22860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2A8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[ 01 ]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22960" y="29718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Executive Summary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41248" y="406908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7E6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whole business in 8 slides. A buyer should be 70% convinced before page 12.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778240" y="63093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E8F9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EXIT DECK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8E8F9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· EXECUTIVE SUMMARY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0058400" y="292608"/>
            <a:ext cx="1581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83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[ 1.1 ]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A2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[Company] at-a-Glance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4864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2A2C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49961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2A2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COMPANY OVERVIEW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731520" y="1828800"/>
            <a:ext cx="51206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500"/>
              </a:spcAft>
              <a:buSzPct val="100000"/>
              <a:buChar char="▪"/>
            </a:pPr>
            <a:r>
              <a:rPr lang="en-US" sz="1050" dirty="0">
                <a:solidFill>
                  <a:srgbClr val="9E8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[What you do, for whom, in one sentence]</a:t>
            </a:r>
            <a:endParaRPr lang="en-US" sz="1050" dirty="0"/>
          </a:p>
          <a:p>
            <a:pPr marL="127000" indent="-127000">
              <a:spcAft>
                <a:spcPts val="500"/>
              </a:spcAft>
              <a:buSzPct val="100000"/>
              <a:buChar char="▪"/>
            </a:pPr>
            <a:r>
              <a:rPr lang="en-US" sz="1050" dirty="0">
                <a:solidFill>
                  <a:srgbClr val="9E8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[Your unfair positioning with the biggest platform in your space]</a:t>
            </a:r>
            <a:endParaRPr lang="en-US" sz="1050" dirty="0"/>
          </a:p>
          <a:p>
            <a:pPr marL="127000" indent="-127000">
              <a:spcAft>
                <a:spcPts val="500"/>
              </a:spcAft>
              <a:buSzPct val="100000"/>
              <a:buChar char="▪"/>
            </a:pPr>
            <a:r>
              <a:rPr lang="en-US" sz="1050" dirty="0">
                <a:solidFill>
                  <a:srgbClr val="9E8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[The full customer journey you own, end to end]</a:t>
            </a:r>
            <a:endParaRPr lang="en-US" sz="1050" dirty="0"/>
          </a:p>
          <a:p>
            <a:pPr marL="127000" indent="-127000">
              <a:spcAft>
                <a:spcPts val="500"/>
              </a:spcAft>
              <a:buSzPct val="100000"/>
              <a:buChar char="▪"/>
            </a:pPr>
            <a:r>
              <a:rPr lang="en-US" sz="1050" dirty="0">
                <a:solidFill>
                  <a:srgbClr val="9E8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[The brand recognition you already have]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163056" y="1371600"/>
            <a:ext cx="54864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2A2C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45936" y="149961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2A2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 STATS AND FACTS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345936" y="1828800"/>
            <a:ext cx="51206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A2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 </a:t>
            </a:r>
            <a:pPr indent="0" marL="0">
              <a:spcAft>
                <a:spcPts val="350"/>
              </a:spcAft>
              <a:buNone/>
            </a:pPr>
            <a:r>
              <a:rPr lang="en-US" sz="1000" dirty="0">
                <a:solidFill>
                  <a:srgbClr val="9E8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[N employees]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2A2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Ownership  </a:t>
            </a:r>
            <a:pPr indent="0" marL="0">
              <a:spcAft>
                <a:spcPts val="350"/>
              </a:spcAft>
              <a:buNone/>
            </a:pPr>
            <a:r>
              <a:rPr lang="en-US" sz="1000" dirty="0">
                <a:solidFill>
                  <a:srgbClr val="9E8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[Founder-owned, bootstrapped]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2A2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model  </a:t>
            </a:r>
            <a:pPr indent="0" marL="0">
              <a:spcAft>
                <a:spcPts val="350"/>
              </a:spcAft>
              <a:buNone/>
            </a:pPr>
            <a:r>
              <a:rPr lang="en-US" sz="1000" dirty="0">
                <a:solidFill>
                  <a:srgbClr val="9E8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[Subscription XX% + add-ons XX%]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2A2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paying customers  </a:t>
            </a:r>
            <a:pPr indent="0" marL="0">
              <a:spcAft>
                <a:spcPts val="350"/>
              </a:spcAft>
              <a:buNone/>
            </a:pPr>
            <a:r>
              <a:rPr lang="en-US" sz="1000" dirty="0">
                <a:solidFill>
                  <a:srgbClr val="9E8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[N]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2A2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 now / in 5 years  </a:t>
            </a:r>
            <a:pPr indent="0" marL="0">
              <a:spcAft>
                <a:spcPts val="350"/>
              </a:spcAft>
              <a:buNone/>
            </a:pPr>
            <a:r>
              <a:rPr lang="en-US" sz="1000" dirty="0">
                <a:solidFill>
                  <a:srgbClr val="9E8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[$X.XB / $X.XB]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2A2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Rating  </a:t>
            </a:r>
            <a:pPr indent="0" marL="0">
              <a:spcAft>
                <a:spcPts val="350"/>
              </a:spcAft>
              <a:buNone/>
            </a:pPr>
            <a:r>
              <a:rPr lang="en-US" sz="1000" dirty="0">
                <a:solidFill>
                  <a:srgbClr val="9E8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[X.X stars, N+ reviews]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2A2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HQ  </a:t>
            </a:r>
            <a:pPr indent="0" marL="0">
              <a:spcAft>
                <a:spcPts val="350"/>
              </a:spcAft>
              <a:buNone/>
            </a:pPr>
            <a:r>
              <a:rPr lang="en-US" sz="1000" dirty="0">
                <a:solidFill>
                  <a:srgbClr val="9E8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[City · XX% remote]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3877056"/>
            <a:ext cx="54864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2A2C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400507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2A2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STRONG GROWTH AND PROFITABILITY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1356360" y="5367528"/>
            <a:ext cx="822960" cy="448056"/>
          </a:xfrm>
          <a:prstGeom prst="rect">
            <a:avLst/>
          </a:prstGeom>
          <a:solidFill>
            <a:srgbClr val="2A2C2E"/>
          </a:solidFill>
          <a:ln/>
        </p:spPr>
      </p:sp>
      <p:sp>
        <p:nvSpPr>
          <p:cNvPr id="14" name="Text 12"/>
          <p:cNvSpPr/>
          <p:nvPr/>
        </p:nvSpPr>
        <p:spPr>
          <a:xfrm>
            <a:off x="1021080" y="5129784"/>
            <a:ext cx="149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E83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[$X.XM]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021080" y="5833872"/>
            <a:ext cx="149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E8F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[YR-2]A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880360" y="5021885"/>
            <a:ext cx="822960" cy="793699"/>
          </a:xfrm>
          <a:prstGeom prst="rect">
            <a:avLst/>
          </a:prstGeom>
          <a:solidFill>
            <a:srgbClr val="2A2C2E"/>
          </a:solidFill>
          <a:ln/>
        </p:spPr>
      </p:sp>
      <p:sp>
        <p:nvSpPr>
          <p:cNvPr id="17" name="Text 15"/>
          <p:cNvSpPr/>
          <p:nvPr/>
        </p:nvSpPr>
        <p:spPr>
          <a:xfrm>
            <a:off x="2545080" y="4784141"/>
            <a:ext cx="149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E83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[$X.XM]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2545080" y="5833872"/>
            <a:ext cx="149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E8F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[YR-1]A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404360" y="4535424"/>
            <a:ext cx="822960" cy="1280160"/>
          </a:xfrm>
          <a:prstGeom prst="rect">
            <a:avLst/>
          </a:prstGeom>
          <a:solidFill>
            <a:srgbClr val="2A2C2E"/>
          </a:solidFill>
          <a:ln/>
        </p:spPr>
      </p:sp>
      <p:sp>
        <p:nvSpPr>
          <p:cNvPr id="20" name="Text 18"/>
          <p:cNvSpPr/>
          <p:nvPr/>
        </p:nvSpPr>
        <p:spPr>
          <a:xfrm>
            <a:off x="4069080" y="4297680"/>
            <a:ext cx="149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E83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[$X.XM]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069080" y="5833872"/>
            <a:ext cx="149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E8F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[YR]E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163056" y="3877056"/>
            <a:ext cx="54864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2A2C2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45936" y="400507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2A2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REPEATABLE COHORT ECONOMICS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791706" y="5239512"/>
            <a:ext cx="419100" cy="576072"/>
          </a:xfrm>
          <a:prstGeom prst="rect">
            <a:avLst/>
          </a:prstGeom>
          <a:solidFill>
            <a:srgbClr val="C2A878"/>
          </a:solidFill>
          <a:ln/>
        </p:spPr>
      </p:sp>
      <p:sp>
        <p:nvSpPr>
          <p:cNvPr id="25" name="Text 23"/>
          <p:cNvSpPr/>
          <p:nvPr/>
        </p:nvSpPr>
        <p:spPr>
          <a:xfrm>
            <a:off x="6624066" y="5001768"/>
            <a:ext cx="7543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624066" y="5833872"/>
            <a:ext cx="7543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E8F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C1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7553706" y="5111496"/>
            <a:ext cx="419100" cy="704088"/>
          </a:xfrm>
          <a:prstGeom prst="rect">
            <a:avLst/>
          </a:prstGeom>
          <a:solidFill>
            <a:srgbClr val="C2A878"/>
          </a:solidFill>
          <a:ln/>
        </p:spPr>
      </p:sp>
      <p:sp>
        <p:nvSpPr>
          <p:cNvPr id="28" name="Text 26"/>
          <p:cNvSpPr/>
          <p:nvPr/>
        </p:nvSpPr>
        <p:spPr>
          <a:xfrm>
            <a:off x="7386066" y="4873752"/>
            <a:ext cx="7543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7386066" y="5833872"/>
            <a:ext cx="7543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E8F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C2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8315706" y="5021885"/>
            <a:ext cx="419100" cy="793699"/>
          </a:xfrm>
          <a:prstGeom prst="rect">
            <a:avLst/>
          </a:prstGeom>
          <a:solidFill>
            <a:srgbClr val="C2A878"/>
          </a:solidFill>
          <a:ln/>
        </p:spPr>
      </p:sp>
      <p:sp>
        <p:nvSpPr>
          <p:cNvPr id="31" name="Text 29"/>
          <p:cNvSpPr/>
          <p:nvPr/>
        </p:nvSpPr>
        <p:spPr>
          <a:xfrm>
            <a:off x="8148066" y="4784141"/>
            <a:ext cx="7543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8148066" y="5833872"/>
            <a:ext cx="7543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E8F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C3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9077706" y="4893869"/>
            <a:ext cx="419100" cy="921715"/>
          </a:xfrm>
          <a:prstGeom prst="rect">
            <a:avLst/>
          </a:prstGeom>
          <a:solidFill>
            <a:srgbClr val="C2A878"/>
          </a:solidFill>
          <a:ln/>
        </p:spPr>
      </p:sp>
      <p:sp>
        <p:nvSpPr>
          <p:cNvPr id="34" name="Text 32"/>
          <p:cNvSpPr/>
          <p:nvPr/>
        </p:nvSpPr>
        <p:spPr>
          <a:xfrm>
            <a:off x="8910066" y="4656125"/>
            <a:ext cx="7543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8910066" y="5833872"/>
            <a:ext cx="7543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E8F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C4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9839706" y="4727448"/>
            <a:ext cx="419100" cy="1088136"/>
          </a:xfrm>
          <a:prstGeom prst="rect">
            <a:avLst/>
          </a:prstGeom>
          <a:solidFill>
            <a:srgbClr val="C2A878"/>
          </a:solidFill>
          <a:ln/>
        </p:spPr>
      </p:sp>
      <p:sp>
        <p:nvSpPr>
          <p:cNvPr id="37" name="Text 35"/>
          <p:cNvSpPr/>
          <p:nvPr/>
        </p:nvSpPr>
        <p:spPr>
          <a:xfrm>
            <a:off x="9672066" y="4489704"/>
            <a:ext cx="7543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9672066" y="5833872"/>
            <a:ext cx="7543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E8F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C5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10601706" y="4535424"/>
            <a:ext cx="419100" cy="1280160"/>
          </a:xfrm>
          <a:prstGeom prst="rect">
            <a:avLst/>
          </a:prstGeom>
          <a:solidFill>
            <a:srgbClr val="C2A878"/>
          </a:solidFill>
          <a:ln/>
        </p:spPr>
      </p:sp>
      <p:sp>
        <p:nvSpPr>
          <p:cNvPr id="40" name="Text 38"/>
          <p:cNvSpPr/>
          <p:nvPr/>
        </p:nvSpPr>
        <p:spPr>
          <a:xfrm>
            <a:off x="10434066" y="4297680"/>
            <a:ext cx="7543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10434066" y="5833872"/>
            <a:ext cx="7543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E8F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C6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6345936" y="433425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E83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[Median LTV/CAC: X.Xx]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8E8F9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· EXECUTIVE SUMMARY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0058400" y="292608"/>
            <a:ext cx="1581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83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[ 1.2 ]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A2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Investment Highlights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10642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2A2C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50876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E83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325880" y="157276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A2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MARKET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383280" y="1536192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E8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[Leading position in a $X.XB market with long-term secular tailwinds]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093976"/>
            <a:ext cx="110642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2A2C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185416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E83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325880" y="2249424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A2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383280" y="2212848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E8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[Software automates the entire WORKFLOW from A to Z, saving users time and money]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2770632"/>
            <a:ext cx="110642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2A2C2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2862072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E83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325880" y="292608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A2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UNIT ECONOMICS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383280" y="2889504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E8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[X-month CAC payback and consistent cohort performance since YEAR]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3447288"/>
            <a:ext cx="110642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2A2C2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353872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E83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325880" y="3602736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A2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TECHNOLOGY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383280" y="356616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E8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[Scalable platform supporting multi-channel functionality by design]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4123944"/>
            <a:ext cx="110642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2A2C2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4215384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E83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325880" y="427939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A2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FINANCIAL PROFILE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383280" y="4242816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E8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[XX% revenue growth at XX%+ EBITDA margins]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4800600"/>
            <a:ext cx="110642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2A2C2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489204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E83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1325880" y="495604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A2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TEAM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383280" y="4919472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E8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[Motivated founding team with the org structure in place for the next phase]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48640" y="5477256"/>
            <a:ext cx="110642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2A2C2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" y="5568696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E83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1325880" y="5632704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A2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GO-TO-MARKET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383280" y="5596128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E8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[Cost-effective low-touch engine driven by CHANNEL]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8E8F9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· EXECUTIVE SUMMARY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0058400" y="292608"/>
            <a:ext cx="1581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83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[ 1.3 ]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A2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[Company] Ecosystem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20700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E8F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[Your product] powers workflows across every stage of the process, benefitting [customers] and their end customers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822960" y="1828800"/>
            <a:ext cx="29260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2A2C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95681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2A2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SUPPLY SIDE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005840" y="228600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400"/>
              </a:spcAft>
              <a:buSzPct val="100000"/>
              <a:buChar char="▪"/>
            </a:pPr>
            <a:r>
              <a:rPr lang="en-US" sz="1000" dirty="0">
                <a:solidFill>
                  <a:srgbClr val="9E8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[Suppliers / partners]</a:t>
            </a:r>
            <a:endParaRPr lang="en-US" sz="1000" dirty="0"/>
          </a:p>
          <a:p>
            <a:pPr marL="127000" indent="-127000">
              <a:spcAft>
                <a:spcPts val="400"/>
              </a:spcAft>
              <a:buSzPct val="100000"/>
              <a:buChar char="▪"/>
            </a:pPr>
            <a:r>
              <a:rPr lang="en-US" sz="1000" dirty="0">
                <a:solidFill>
                  <a:srgbClr val="9E8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[Data sources]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17720" y="1920240"/>
            <a:ext cx="2971800" cy="1188720"/>
          </a:xfrm>
          <a:prstGeom prst="rect">
            <a:avLst/>
          </a:prstGeom>
          <a:solidFill>
            <a:srgbClr val="2A2C2E"/>
          </a:solidFill>
          <a:ln w="12700">
            <a:solidFill>
              <a:srgbClr val="2A2C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17720" y="192024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2A8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YOUR PRODUCT ]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458200" y="1828800"/>
            <a:ext cx="29260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2A2C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41080" y="195681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2A2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PLATFORMS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8641080" y="228600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400"/>
              </a:spcAft>
              <a:buSzPct val="100000"/>
              <a:buChar char="▪"/>
            </a:pPr>
            <a:r>
              <a:rPr lang="en-US" sz="1000" dirty="0">
                <a:solidFill>
                  <a:srgbClr val="9E8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[Selling channels]</a:t>
            </a:r>
            <a:endParaRPr lang="en-US" sz="1000" dirty="0"/>
          </a:p>
          <a:p>
            <a:pPr marL="127000" indent="-127000">
              <a:spcAft>
                <a:spcPts val="400"/>
              </a:spcAft>
              <a:buSzPct val="100000"/>
              <a:buChar char="▪"/>
            </a:pPr>
            <a:r>
              <a:rPr lang="en-US" sz="1000" dirty="0">
                <a:solidFill>
                  <a:srgbClr val="9E8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[Integration partners]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017520" y="3611880"/>
            <a:ext cx="27432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2A2C2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17520" y="361188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A2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YOUR CUSTOMER ]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46520" y="3611880"/>
            <a:ext cx="27432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2A2C2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46520" y="361188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A2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END CUSTOMER ]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22960" y="4617720"/>
            <a:ext cx="51206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2A2C2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05840" y="475488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2A2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BENEFITS TO YOUR CUSTOMER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005840" y="5074920"/>
            <a:ext cx="4754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400"/>
              </a:spcAft>
              <a:buSzPct val="100000"/>
              <a:buChar char="▪"/>
            </a:pPr>
            <a:r>
              <a:rPr lang="en-US" sz="1000" dirty="0">
                <a:solidFill>
                  <a:srgbClr val="9E8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[Benefit + the metric it moves]</a:t>
            </a:r>
            <a:endParaRPr lang="en-US" sz="1000" dirty="0"/>
          </a:p>
          <a:p>
            <a:pPr marL="127000" indent="-127000">
              <a:spcAft>
                <a:spcPts val="400"/>
              </a:spcAft>
              <a:buSzPct val="100000"/>
              <a:buChar char="▪"/>
            </a:pPr>
            <a:r>
              <a:rPr lang="en-US" sz="1000" dirty="0">
                <a:solidFill>
                  <a:srgbClr val="9E8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[Benefit + the metric it moves]</a:t>
            </a:r>
            <a:endParaRPr lang="en-US" sz="1000" dirty="0"/>
          </a:p>
          <a:p>
            <a:pPr marL="127000" indent="-127000">
              <a:spcAft>
                <a:spcPts val="400"/>
              </a:spcAft>
              <a:buSzPct val="100000"/>
              <a:buChar char="▪"/>
            </a:pPr>
            <a:r>
              <a:rPr lang="en-US" sz="1000" dirty="0">
                <a:solidFill>
                  <a:srgbClr val="9E8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[Benefit + the metric it moves]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263640" y="4617720"/>
            <a:ext cx="51206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2A2C2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46520" y="475488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2A2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BENEFITS TO THEIR END CUSTOMER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446520" y="5074920"/>
            <a:ext cx="4754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400"/>
              </a:spcAft>
              <a:buSzPct val="100000"/>
              <a:buChar char="▪"/>
            </a:pPr>
            <a:r>
              <a:rPr lang="en-US" sz="1000" dirty="0">
                <a:solidFill>
                  <a:srgbClr val="9E8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[Benefit]</a:t>
            </a:r>
            <a:endParaRPr lang="en-US" sz="1000" dirty="0"/>
          </a:p>
          <a:p>
            <a:pPr marL="127000" indent="-127000">
              <a:spcAft>
                <a:spcPts val="400"/>
              </a:spcAft>
              <a:buSzPct val="100000"/>
              <a:buChar char="▪"/>
            </a:pPr>
            <a:r>
              <a:rPr lang="en-US" sz="1000" dirty="0">
                <a:solidFill>
                  <a:srgbClr val="9E8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[Benefit]</a:t>
            </a:r>
            <a:endParaRPr lang="en-US" sz="1000" dirty="0"/>
          </a:p>
          <a:p>
            <a:pPr marL="127000" indent="-127000">
              <a:spcAft>
                <a:spcPts val="400"/>
              </a:spcAft>
              <a:buSzPct val="100000"/>
              <a:buChar char="▪"/>
            </a:pPr>
            <a:r>
              <a:rPr lang="en-US" sz="1000" dirty="0">
                <a:solidFill>
                  <a:srgbClr val="9E8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[Benefit]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8E8F9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· EXECUTIVE SUMMARY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0058400" y="292608"/>
            <a:ext cx="1581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83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[ 1.4 ]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A2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Supporting Customers Across Their Evolution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2651760" cy="548640"/>
          </a:xfrm>
          <a:prstGeom prst="rect">
            <a:avLst/>
          </a:prstGeom>
          <a:solidFill>
            <a:srgbClr val="E7E6E3"/>
          </a:solidFill>
          <a:ln w="12700">
            <a:solidFill>
              <a:srgbClr val="2A2C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4630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A2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[FIRST-TIMER]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265176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2A2C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227685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150" kern="0" dirty="0">
                <a:solidFill>
                  <a:srgbClr val="2A2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PROFILE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13232" y="2578608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400"/>
              </a:spcAft>
              <a:buSzPct val="100000"/>
              <a:buChar char="▪"/>
            </a:pPr>
            <a:r>
              <a:rPr lang="en-US" sz="950" dirty="0">
                <a:solidFill>
                  <a:srgbClr val="9E8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[Who they are]</a:t>
            </a:r>
            <a:endParaRPr lang="en-US" sz="950" dirty="0"/>
          </a:p>
          <a:p>
            <a:pPr marL="127000" indent="-127000">
              <a:spcAft>
                <a:spcPts val="400"/>
              </a:spcAft>
              <a:buSzPct val="100000"/>
              <a:buChar char="▪"/>
            </a:pPr>
            <a:r>
              <a:rPr lang="en-US" sz="950" dirty="0">
                <a:solidFill>
                  <a:srgbClr val="9E8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[How they find you]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48640" y="4114800"/>
            <a:ext cx="265176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2A2C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424281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150" kern="0" dirty="0">
                <a:solidFill>
                  <a:srgbClr val="2A2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YOUR VALUE PROP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13232" y="4544568"/>
            <a:ext cx="2331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400"/>
              </a:spcAft>
              <a:buSzPct val="100000"/>
              <a:buChar char="▪"/>
            </a:pPr>
            <a:r>
              <a:rPr lang="en-US" sz="950" dirty="0">
                <a:solidFill>
                  <a:srgbClr val="9E8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[What you solve]</a:t>
            </a:r>
            <a:endParaRPr lang="en-US" sz="950" dirty="0"/>
          </a:p>
          <a:p>
            <a:pPr marL="127000" indent="-127000">
              <a:spcAft>
                <a:spcPts val="400"/>
              </a:spcAft>
              <a:buSzPct val="100000"/>
              <a:buChar char="▪"/>
            </a:pPr>
            <a:r>
              <a:rPr lang="en-US" sz="950" dirty="0">
                <a:solidFill>
                  <a:srgbClr val="9E8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[What you solve]</a:t>
            </a:r>
            <a:endParaRPr lang="en-US" sz="950" dirty="0"/>
          </a:p>
          <a:p>
            <a:pPr marL="127000" indent="-127000">
              <a:spcAft>
                <a:spcPts val="400"/>
              </a:spcAft>
              <a:buSzPct val="100000"/>
              <a:buChar char="▪"/>
            </a:pPr>
            <a:r>
              <a:rPr lang="en-US" sz="950" dirty="0">
                <a:solidFill>
                  <a:srgbClr val="9E8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[What you solve]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383280" y="1463040"/>
            <a:ext cx="2651760" cy="548640"/>
          </a:xfrm>
          <a:prstGeom prst="rect">
            <a:avLst/>
          </a:prstGeom>
          <a:solidFill>
            <a:srgbClr val="E7E6E3"/>
          </a:solidFill>
          <a:ln w="12700">
            <a:solidFill>
              <a:srgbClr val="2A2C2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0" y="14630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A2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[PART-TIME]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383280" y="2148840"/>
            <a:ext cx="265176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2A2C2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47872" y="227685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150" kern="0" dirty="0">
                <a:solidFill>
                  <a:srgbClr val="2A2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PROFILE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547872" y="2578608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400"/>
              </a:spcAft>
              <a:buSzPct val="100000"/>
              <a:buChar char="▪"/>
            </a:pPr>
            <a:r>
              <a:rPr lang="en-US" sz="950" dirty="0">
                <a:solidFill>
                  <a:srgbClr val="9E8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[Who they are]</a:t>
            </a:r>
            <a:endParaRPr lang="en-US" sz="950" dirty="0"/>
          </a:p>
          <a:p>
            <a:pPr marL="127000" indent="-127000">
              <a:spcAft>
                <a:spcPts val="400"/>
              </a:spcAft>
              <a:buSzPct val="100000"/>
              <a:buChar char="▪"/>
            </a:pPr>
            <a:r>
              <a:rPr lang="en-US" sz="950" dirty="0">
                <a:solidFill>
                  <a:srgbClr val="9E8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[How they find you]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383280" y="4114800"/>
            <a:ext cx="265176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2A2C2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47872" y="424281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150" kern="0" dirty="0">
                <a:solidFill>
                  <a:srgbClr val="2A2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YOUR VALUE PROP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547872" y="4544568"/>
            <a:ext cx="2331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400"/>
              </a:spcAft>
              <a:buSzPct val="100000"/>
              <a:buChar char="▪"/>
            </a:pPr>
            <a:r>
              <a:rPr lang="en-US" sz="950" dirty="0">
                <a:solidFill>
                  <a:srgbClr val="9E8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[What you solve]</a:t>
            </a:r>
            <a:endParaRPr lang="en-US" sz="950" dirty="0"/>
          </a:p>
          <a:p>
            <a:pPr marL="127000" indent="-127000">
              <a:spcAft>
                <a:spcPts val="400"/>
              </a:spcAft>
              <a:buSzPct val="100000"/>
              <a:buChar char="▪"/>
            </a:pPr>
            <a:r>
              <a:rPr lang="en-US" sz="950" dirty="0">
                <a:solidFill>
                  <a:srgbClr val="9E8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[What you solve]</a:t>
            </a:r>
            <a:endParaRPr lang="en-US" sz="950" dirty="0"/>
          </a:p>
          <a:p>
            <a:pPr marL="127000" indent="-127000">
              <a:spcAft>
                <a:spcPts val="400"/>
              </a:spcAft>
              <a:buSzPct val="100000"/>
              <a:buChar char="▪"/>
            </a:pPr>
            <a:r>
              <a:rPr lang="en-US" sz="950" dirty="0">
                <a:solidFill>
                  <a:srgbClr val="9E8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[What you solve]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217920" y="1463040"/>
            <a:ext cx="2651760" cy="548640"/>
          </a:xfrm>
          <a:prstGeom prst="rect">
            <a:avLst/>
          </a:prstGeom>
          <a:solidFill>
            <a:srgbClr val="E7E6E3"/>
          </a:solidFill>
          <a:ln w="12700">
            <a:solidFill>
              <a:srgbClr val="2A2C2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0" y="14630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A2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[FULL-TIME]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217920" y="2148840"/>
            <a:ext cx="265176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2A2C2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82512" y="227685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150" kern="0" dirty="0">
                <a:solidFill>
                  <a:srgbClr val="2A2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PROFILE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6382512" y="2578608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400"/>
              </a:spcAft>
              <a:buSzPct val="100000"/>
              <a:buChar char="▪"/>
            </a:pPr>
            <a:r>
              <a:rPr lang="en-US" sz="950" dirty="0">
                <a:solidFill>
                  <a:srgbClr val="9E8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[Who they are]</a:t>
            </a:r>
            <a:endParaRPr lang="en-US" sz="950" dirty="0"/>
          </a:p>
          <a:p>
            <a:pPr marL="127000" indent="-127000">
              <a:spcAft>
                <a:spcPts val="400"/>
              </a:spcAft>
              <a:buSzPct val="100000"/>
              <a:buChar char="▪"/>
            </a:pPr>
            <a:r>
              <a:rPr lang="en-US" sz="950" dirty="0">
                <a:solidFill>
                  <a:srgbClr val="9E8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[How they find you]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217920" y="4114800"/>
            <a:ext cx="265176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2A2C2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82512" y="424281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150" kern="0" dirty="0">
                <a:solidFill>
                  <a:srgbClr val="2A2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YOUR VALUE PROP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6382512" y="4544568"/>
            <a:ext cx="2331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400"/>
              </a:spcAft>
              <a:buSzPct val="100000"/>
              <a:buChar char="▪"/>
            </a:pPr>
            <a:r>
              <a:rPr lang="en-US" sz="950" dirty="0">
                <a:solidFill>
                  <a:srgbClr val="9E8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[What you solve]</a:t>
            </a:r>
            <a:endParaRPr lang="en-US" sz="950" dirty="0"/>
          </a:p>
          <a:p>
            <a:pPr marL="127000" indent="-127000">
              <a:spcAft>
                <a:spcPts val="400"/>
              </a:spcAft>
              <a:buSzPct val="100000"/>
              <a:buChar char="▪"/>
            </a:pPr>
            <a:r>
              <a:rPr lang="en-US" sz="950" dirty="0">
                <a:solidFill>
                  <a:srgbClr val="9E8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[What you solve]</a:t>
            </a:r>
            <a:endParaRPr lang="en-US" sz="950" dirty="0"/>
          </a:p>
          <a:p>
            <a:pPr marL="127000" indent="-127000">
              <a:spcAft>
                <a:spcPts val="400"/>
              </a:spcAft>
              <a:buSzPct val="100000"/>
              <a:buChar char="▪"/>
            </a:pPr>
            <a:r>
              <a:rPr lang="en-US" sz="950" dirty="0">
                <a:solidFill>
                  <a:srgbClr val="9E8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[What you solve]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9052560" y="1463040"/>
            <a:ext cx="2651760" cy="548640"/>
          </a:xfrm>
          <a:prstGeom prst="rect">
            <a:avLst/>
          </a:prstGeom>
          <a:solidFill>
            <a:srgbClr val="2A2C2E"/>
          </a:solidFill>
          <a:ln w="12700">
            <a:solidFill>
              <a:srgbClr val="2A2C2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052560" y="14630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2A8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[ADJACENT SEGMENT]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9052560" y="2148840"/>
            <a:ext cx="265176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2A2C2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217152" y="227685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150" kern="0" dirty="0">
                <a:solidFill>
                  <a:srgbClr val="2A2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PROFILE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9217152" y="2578608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400"/>
              </a:spcAft>
              <a:buSzPct val="100000"/>
              <a:buChar char="▪"/>
            </a:pPr>
            <a:r>
              <a:rPr lang="en-US" sz="950" dirty="0">
                <a:solidFill>
                  <a:srgbClr val="9E8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[Who they are]</a:t>
            </a:r>
            <a:endParaRPr lang="en-US" sz="950" dirty="0"/>
          </a:p>
          <a:p>
            <a:pPr marL="127000" indent="-127000">
              <a:spcAft>
                <a:spcPts val="400"/>
              </a:spcAft>
              <a:buSzPct val="100000"/>
              <a:buChar char="▪"/>
            </a:pPr>
            <a:r>
              <a:rPr lang="en-US" sz="950" dirty="0">
                <a:solidFill>
                  <a:srgbClr val="9E8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[How they find you]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9052560" y="4114800"/>
            <a:ext cx="265176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2A2C2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217152" y="424281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150" kern="0" dirty="0">
                <a:solidFill>
                  <a:srgbClr val="2A2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YOUR VALUE PROP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9217152" y="4544568"/>
            <a:ext cx="2331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400"/>
              </a:spcAft>
              <a:buSzPct val="100000"/>
              <a:buChar char="▪"/>
            </a:pPr>
            <a:r>
              <a:rPr lang="en-US" sz="950" dirty="0">
                <a:solidFill>
                  <a:srgbClr val="9E8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[What you solve]</a:t>
            </a:r>
            <a:endParaRPr lang="en-US" sz="950" dirty="0"/>
          </a:p>
          <a:p>
            <a:pPr marL="127000" indent="-127000">
              <a:spcAft>
                <a:spcPts val="400"/>
              </a:spcAft>
              <a:buSzPct val="100000"/>
              <a:buChar char="▪"/>
            </a:pPr>
            <a:r>
              <a:rPr lang="en-US" sz="950" dirty="0">
                <a:solidFill>
                  <a:srgbClr val="9E8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[What you solve]</a:t>
            </a:r>
            <a:endParaRPr lang="en-US" sz="950" dirty="0"/>
          </a:p>
          <a:p>
            <a:pPr marL="127000" indent="-127000">
              <a:spcAft>
                <a:spcPts val="400"/>
              </a:spcAft>
              <a:buSzPct val="100000"/>
              <a:buChar char="▪"/>
            </a:pPr>
            <a:r>
              <a:rPr lang="en-US" sz="950" dirty="0">
                <a:solidFill>
                  <a:srgbClr val="9E8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[What you solve]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E8F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create [customers] and enable their success - from first try to full scale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8E8F9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· EXECUTIVE SUMMARY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0058400" y="292608"/>
            <a:ext cx="1581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83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[ 1.5 ]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A2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[Company] Journey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822960" y="3291840"/>
            <a:ext cx="10515600" cy="18288"/>
          </a:xfrm>
          <a:prstGeom prst="rect">
            <a:avLst/>
          </a:prstGeom>
          <a:solidFill>
            <a:srgbClr val="8E8F92"/>
          </a:solidFill>
          <a:ln/>
        </p:spPr>
      </p:sp>
      <p:sp>
        <p:nvSpPr>
          <p:cNvPr id="6" name="Shape 4"/>
          <p:cNvSpPr/>
          <p:nvPr/>
        </p:nvSpPr>
        <p:spPr>
          <a:xfrm>
            <a:off x="758952" y="3236976"/>
            <a:ext cx="128016" cy="128016"/>
          </a:xfrm>
          <a:prstGeom prst="ellipse">
            <a:avLst/>
          </a:prstGeom>
          <a:solidFill>
            <a:srgbClr val="2A2C2E"/>
          </a:solidFill>
          <a:ln/>
        </p:spPr>
      </p:sp>
      <p:sp>
        <p:nvSpPr>
          <p:cNvPr id="7" name="Text 5"/>
          <p:cNvSpPr/>
          <p:nvPr/>
        </p:nvSpPr>
        <p:spPr>
          <a:xfrm>
            <a:off x="45720" y="21488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E83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[YEAR]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" y="2450592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2A2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[Founder falls in love with the problem]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511552" y="3236976"/>
            <a:ext cx="128016" cy="128016"/>
          </a:xfrm>
          <a:prstGeom prst="ellipse">
            <a:avLst/>
          </a:prstGeom>
          <a:solidFill>
            <a:srgbClr val="2A2C2E"/>
          </a:solidFill>
          <a:ln/>
        </p:spPr>
      </p:sp>
      <p:sp>
        <p:nvSpPr>
          <p:cNvPr id="10" name="Text 8"/>
          <p:cNvSpPr/>
          <p:nvPr/>
        </p:nvSpPr>
        <p:spPr>
          <a:xfrm>
            <a:off x="1798320" y="36118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E83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[YEAR]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798320" y="3913632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2A2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[First version built for own use]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264152" y="3236976"/>
            <a:ext cx="128016" cy="128016"/>
          </a:xfrm>
          <a:prstGeom prst="ellipse">
            <a:avLst/>
          </a:prstGeom>
          <a:solidFill>
            <a:srgbClr val="2A2C2E"/>
          </a:solidFill>
          <a:ln/>
        </p:spPr>
      </p:sp>
      <p:sp>
        <p:nvSpPr>
          <p:cNvPr id="13" name="Text 11"/>
          <p:cNvSpPr/>
          <p:nvPr/>
        </p:nvSpPr>
        <p:spPr>
          <a:xfrm>
            <a:off x="3550920" y="21488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E83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[YEAR]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550920" y="2450592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2A2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[Public launch]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016752" y="3236976"/>
            <a:ext cx="128016" cy="128016"/>
          </a:xfrm>
          <a:prstGeom prst="ellipse">
            <a:avLst/>
          </a:prstGeom>
          <a:solidFill>
            <a:srgbClr val="2A2C2E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0" y="36118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E83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[YEAR]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303520" y="3913632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2A2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[The big rebuild / pivot]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7769352" y="3236976"/>
            <a:ext cx="128016" cy="128016"/>
          </a:xfrm>
          <a:prstGeom prst="ellipse">
            <a:avLst/>
          </a:prstGeom>
          <a:solidFill>
            <a:srgbClr val="2A2C2E"/>
          </a:solidFill>
          <a:ln/>
        </p:spPr>
      </p:sp>
      <p:sp>
        <p:nvSpPr>
          <p:cNvPr id="19" name="Text 17"/>
          <p:cNvSpPr/>
          <p:nvPr/>
        </p:nvSpPr>
        <p:spPr>
          <a:xfrm>
            <a:off x="7056120" y="21488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E83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[YEAR]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056120" y="2450592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2A2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[Key integration or inflection]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9521952" y="3236976"/>
            <a:ext cx="128016" cy="128016"/>
          </a:xfrm>
          <a:prstGeom prst="ellipse">
            <a:avLst/>
          </a:prstGeom>
          <a:solidFill>
            <a:srgbClr val="2A2C2E"/>
          </a:solidFill>
          <a:ln/>
        </p:spPr>
      </p:sp>
      <p:sp>
        <p:nvSpPr>
          <p:cNvPr id="22" name="Text 20"/>
          <p:cNvSpPr/>
          <p:nvPr/>
        </p:nvSpPr>
        <p:spPr>
          <a:xfrm>
            <a:off x="8808720" y="36118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E83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[YEAR]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808720" y="3913632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2A2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[Positioned for growth]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11274552" y="3236976"/>
            <a:ext cx="128016" cy="128016"/>
          </a:xfrm>
          <a:prstGeom prst="ellipse">
            <a:avLst/>
          </a:prstGeom>
          <a:solidFill>
            <a:srgbClr val="C2A878"/>
          </a:solidFill>
          <a:ln/>
        </p:spPr>
      </p:sp>
      <p:sp>
        <p:nvSpPr>
          <p:cNvPr id="25" name="Text 23"/>
          <p:cNvSpPr/>
          <p:nvPr/>
        </p:nvSpPr>
        <p:spPr>
          <a:xfrm>
            <a:off x="10561320" y="21488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E83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0561320" y="2450592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2A2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[The future, with a new partner]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822960" y="5120640"/>
            <a:ext cx="105156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2A2C2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51560" y="512064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9E83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ARC   </a:t>
            </a:r>
            <a:pPr indent="0" marL="0">
              <a:buNone/>
            </a:pPr>
            <a:r>
              <a:rPr lang="en-US" sz="1150" dirty="0">
                <a:solidFill>
                  <a:srgbClr val="2A2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lived firsthand → product for yourself → platform for everyone → ready for a partner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8E8F9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· EXECUTIVE SUMMARY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0058400" y="292608"/>
            <a:ext cx="1581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83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[ 1.6 ]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A2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Financial Profile, Positioned for Growth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585216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2A2C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55448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2A2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REVENUE + EBITDA ($M)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202436" y="3503981"/>
            <a:ext cx="704088" cy="537667"/>
          </a:xfrm>
          <a:prstGeom prst="rect">
            <a:avLst/>
          </a:prstGeom>
          <a:solidFill>
            <a:srgbClr val="2A2C2E"/>
          </a:solidFill>
          <a:ln/>
        </p:spPr>
      </p:sp>
      <p:sp>
        <p:nvSpPr>
          <p:cNvPr id="8" name="Text 6"/>
          <p:cNvSpPr/>
          <p:nvPr/>
        </p:nvSpPr>
        <p:spPr>
          <a:xfrm>
            <a:off x="920801" y="3266237"/>
            <a:ext cx="126735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E83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[$X.X]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20801" y="4059936"/>
            <a:ext cx="126735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E8F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[YR-2]A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482596" y="2985516"/>
            <a:ext cx="704088" cy="1056132"/>
          </a:xfrm>
          <a:prstGeom prst="rect">
            <a:avLst/>
          </a:prstGeom>
          <a:solidFill>
            <a:srgbClr val="2A2C2E"/>
          </a:solidFill>
          <a:ln/>
        </p:spPr>
      </p:sp>
      <p:sp>
        <p:nvSpPr>
          <p:cNvPr id="11" name="Text 9"/>
          <p:cNvSpPr/>
          <p:nvPr/>
        </p:nvSpPr>
        <p:spPr>
          <a:xfrm>
            <a:off x="2200961" y="2747772"/>
            <a:ext cx="126735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E83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[$X.X]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2200961" y="4059936"/>
            <a:ext cx="126735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E8F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[YR-1]A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762756" y="2505456"/>
            <a:ext cx="704088" cy="1536192"/>
          </a:xfrm>
          <a:prstGeom prst="rect">
            <a:avLst/>
          </a:prstGeom>
          <a:solidFill>
            <a:srgbClr val="2A2C2E"/>
          </a:solidFill>
          <a:ln/>
        </p:spPr>
      </p:sp>
      <p:sp>
        <p:nvSpPr>
          <p:cNvPr id="14" name="Text 12"/>
          <p:cNvSpPr/>
          <p:nvPr/>
        </p:nvSpPr>
        <p:spPr>
          <a:xfrm>
            <a:off x="3481121" y="2267712"/>
            <a:ext cx="126735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E83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[$X.X]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481121" y="4059936"/>
            <a:ext cx="126735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E8F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[YR]E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042916" y="2121408"/>
            <a:ext cx="704088" cy="1920240"/>
          </a:xfrm>
          <a:prstGeom prst="rect">
            <a:avLst/>
          </a:prstGeom>
          <a:solidFill>
            <a:srgbClr val="2A2C2E"/>
          </a:solidFill>
          <a:ln/>
        </p:spPr>
      </p:sp>
      <p:sp>
        <p:nvSpPr>
          <p:cNvPr id="17" name="Text 15"/>
          <p:cNvSpPr/>
          <p:nvPr/>
        </p:nvSpPr>
        <p:spPr>
          <a:xfrm>
            <a:off x="4761281" y="1883664"/>
            <a:ext cx="126735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E83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[$X.X]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761281" y="4059936"/>
            <a:ext cx="126735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E8F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[YR+1]P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629400" y="1417320"/>
            <a:ext cx="233172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2A2C2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29400" y="1417320"/>
            <a:ext cx="233172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E83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[PRODUCT DEV]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9144000" y="1417320"/>
            <a:ext cx="233172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2A2C2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0" y="1417320"/>
            <a:ext cx="233172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E83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[CHANNEL DEPTH]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629400" y="2496312"/>
            <a:ext cx="233172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2A2C2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29400" y="2496312"/>
            <a:ext cx="233172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E83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[NEW SEGMENT]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9144000" y="2496312"/>
            <a:ext cx="233172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2A2C2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0" y="2496312"/>
            <a:ext cx="233172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E83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[MARKETING]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629400" y="3575304"/>
            <a:ext cx="233172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2A2C2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29400" y="3575304"/>
            <a:ext cx="233172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E83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[CONVERSION]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9144000" y="3575304"/>
            <a:ext cx="233172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2A2C2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0" y="3575304"/>
            <a:ext cx="233172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E83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[ADJACENT]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48640" y="4754880"/>
            <a:ext cx="110642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2A2C2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1520" y="48920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2A2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NEAR-TERM PLAN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731520" y="521208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9E8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[Grow customer count in main channels by deepening CHANNEL efforts]</a:t>
            </a:r>
            <a:endParaRPr lang="en-US" sz="1050" dirty="0"/>
          </a:p>
          <a:p>
            <a:pPr marL="127000" indent="-127000"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9E8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[Expand into VECTOR B and VECTOR C]</a:t>
            </a:r>
            <a:endParaRPr lang="en-US" sz="1050" dirty="0"/>
          </a:p>
          <a:p>
            <a:pPr marL="127000" indent="-127000"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9E8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[Improve trial conversion and retention with INITIATIVE]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8E8F9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· EXECUTIVE SUMMARY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0058400" y="292608"/>
            <a:ext cx="1581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83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[ 1.7 ]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A2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Led by a Founding Team Committed to the Next Chapter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534924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2A2C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783080"/>
            <a:ext cx="1188720" cy="1188720"/>
          </a:xfrm>
          <a:prstGeom prst="ellipse">
            <a:avLst/>
          </a:prstGeom>
          <a:solidFill>
            <a:srgbClr val="E7E6E3"/>
          </a:solidFill>
          <a:ln w="9525">
            <a:solidFill>
              <a:srgbClr val="8E8F9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78308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E8F9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PHOTO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286000" y="19659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E83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[FOUNDER NAME]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286000" y="23774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8F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[Co-Founder &amp; TITLE]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68680" y="3246120"/>
            <a:ext cx="4754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500"/>
              </a:spcAft>
              <a:buSzPct val="100000"/>
              <a:buChar char="▪"/>
            </a:pPr>
            <a:r>
              <a:rPr lang="en-US" sz="1050" dirty="0">
                <a:solidFill>
                  <a:srgbClr val="9E8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[N years of relevant experience, starting from WHERE]</a:t>
            </a:r>
            <a:endParaRPr lang="en-US" sz="1050" dirty="0"/>
          </a:p>
          <a:p>
            <a:pPr marL="127000" indent="-127000">
              <a:spcAft>
                <a:spcPts val="500"/>
              </a:spcAft>
              <a:buSzPct val="100000"/>
              <a:buChar char="▪"/>
            </a:pPr>
            <a:r>
              <a:rPr lang="en-US" sz="1050" dirty="0">
                <a:solidFill>
                  <a:srgbClr val="9E8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[Prior roles that matter to a buyer]</a:t>
            </a:r>
            <a:endParaRPr lang="en-US" sz="1050" dirty="0"/>
          </a:p>
          <a:p>
            <a:pPr marL="127000" indent="-127000">
              <a:spcAft>
                <a:spcPts val="500"/>
              </a:spcAft>
              <a:buSzPct val="100000"/>
              <a:buChar char="▪"/>
            </a:pPr>
            <a:r>
              <a:rPr lang="en-US" sz="1050" dirty="0">
                <a:solidFill>
                  <a:srgbClr val="9E8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[Elite credential: unit, award, council]</a:t>
            </a:r>
            <a:endParaRPr lang="en-US" sz="1050" dirty="0"/>
          </a:p>
          <a:p>
            <a:pPr marL="127000" indent="-127000">
              <a:spcAft>
                <a:spcPts val="500"/>
              </a:spcAft>
              <a:buSzPct val="100000"/>
              <a:buChar char="▪"/>
            </a:pPr>
            <a:r>
              <a:rPr lang="en-US" sz="1050" dirty="0">
                <a:solidFill>
                  <a:srgbClr val="9E8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[The thing only this founder brings]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63640" y="1463040"/>
            <a:ext cx="534924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2A2C2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83680" y="1783080"/>
            <a:ext cx="1188720" cy="1188720"/>
          </a:xfrm>
          <a:prstGeom prst="ellipse">
            <a:avLst/>
          </a:prstGeom>
          <a:solidFill>
            <a:srgbClr val="E7E6E3"/>
          </a:solidFill>
          <a:ln w="9525">
            <a:solidFill>
              <a:srgbClr val="8E8F9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0" y="178308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E8F9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PHOTO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001000" y="19659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E83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[FOUNDER NAME]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001000" y="23774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8F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[Co-Founder &amp; TITLE]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583680" y="3246120"/>
            <a:ext cx="4754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500"/>
              </a:spcAft>
              <a:buSzPct val="100000"/>
              <a:buChar char="▪"/>
            </a:pPr>
            <a:r>
              <a:rPr lang="en-US" sz="1050" dirty="0">
                <a:solidFill>
                  <a:srgbClr val="9E8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[N years of relevant experience, starting from WHERE]</a:t>
            </a:r>
            <a:endParaRPr lang="en-US" sz="1050" dirty="0"/>
          </a:p>
          <a:p>
            <a:pPr marL="127000" indent="-127000">
              <a:spcAft>
                <a:spcPts val="500"/>
              </a:spcAft>
              <a:buSzPct val="100000"/>
              <a:buChar char="▪"/>
            </a:pPr>
            <a:r>
              <a:rPr lang="en-US" sz="1050" dirty="0">
                <a:solidFill>
                  <a:srgbClr val="9E8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[Prior roles that matter to a buyer]</a:t>
            </a:r>
            <a:endParaRPr lang="en-US" sz="1050" dirty="0"/>
          </a:p>
          <a:p>
            <a:pPr marL="127000" indent="-127000">
              <a:spcAft>
                <a:spcPts val="500"/>
              </a:spcAft>
              <a:buSzPct val="100000"/>
              <a:buChar char="▪"/>
            </a:pPr>
            <a:r>
              <a:rPr lang="en-US" sz="1050" dirty="0">
                <a:solidFill>
                  <a:srgbClr val="9E8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[Elite credential: unit, award, council]</a:t>
            </a:r>
            <a:endParaRPr lang="en-US" sz="1050" dirty="0"/>
          </a:p>
          <a:p>
            <a:pPr marL="127000" indent="-127000">
              <a:spcAft>
                <a:spcPts val="500"/>
              </a:spcAft>
              <a:buSzPct val="100000"/>
              <a:buChar char="▪"/>
            </a:pPr>
            <a:r>
              <a:rPr lang="en-US" sz="1050" dirty="0">
                <a:solidFill>
                  <a:srgbClr val="9E8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[The thing only this founder brings]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017520" y="5715000"/>
            <a:ext cx="6126480" cy="548640"/>
          </a:xfrm>
          <a:prstGeom prst="rect">
            <a:avLst/>
          </a:prstGeom>
          <a:solidFill>
            <a:srgbClr val="E7E6E3"/>
          </a:solidFill>
          <a:ln w="12700">
            <a:solidFill>
              <a:srgbClr val="2A2C2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017520" y="5715000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2A2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Supported by a full team committed to the next chapter of growth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822960"/>
            <a:ext cx="457200" cy="457200"/>
          </a:xfrm>
          <a:prstGeom prst="rect">
            <a:avLst/>
          </a:prstGeom>
          <a:ln w="19050">
            <a:solidFill>
              <a:srgbClr val="C2A87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22860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2A8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[ 02 ]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22960" y="29718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Industry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41248" y="406908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7E6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Third-party sources only. Your credibility on every later slide borrows from this one.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778240" y="63093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E8F9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EXIT DECK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8E8F9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· INDUSTRY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0058400" y="292608"/>
            <a:ext cx="1581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83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[ 2.1 ]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A2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Market Shift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544068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2A2C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6002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2A2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THEN: [EARLY ERA]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731520" y="1965960"/>
            <a:ext cx="5029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800"/>
              </a:spcAft>
              <a:buSzPct val="100000"/>
              <a:buChar char="▪"/>
            </a:pPr>
            <a:r>
              <a:rPr lang="en-US" sz="1100" dirty="0">
                <a:solidFill>
                  <a:srgbClr val="9E8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[Clunky - what made it hard]</a:t>
            </a:r>
            <a:endParaRPr lang="en-US" sz="1100" dirty="0"/>
          </a:p>
          <a:p>
            <a:pPr marL="127000" indent="-127000">
              <a:spcAft>
                <a:spcPts val="800"/>
              </a:spcAft>
              <a:buSzPct val="100000"/>
              <a:buChar char="▪"/>
            </a:pPr>
            <a:r>
              <a:rPr lang="en-US" sz="1100" dirty="0">
                <a:solidFill>
                  <a:srgbClr val="9E8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[Expensive - who was priced out]</a:t>
            </a:r>
            <a:endParaRPr lang="en-US" sz="1100" dirty="0"/>
          </a:p>
          <a:p>
            <a:pPr marL="127000" indent="-127000">
              <a:spcAft>
                <a:spcPts val="800"/>
              </a:spcAft>
              <a:buSzPct val="100000"/>
              <a:buChar char="▪"/>
            </a:pPr>
            <a:r>
              <a:rPr lang="en-US" sz="1100" dirty="0">
                <a:solidFill>
                  <a:srgbClr val="9E8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[Complex - the expertise it demanded]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172200" y="1463040"/>
            <a:ext cx="5440680" cy="2834640"/>
          </a:xfrm>
          <a:prstGeom prst="rect">
            <a:avLst/>
          </a:prstGeom>
          <a:solidFill>
            <a:srgbClr val="FFFFFF"/>
          </a:solidFill>
          <a:ln w="19050">
            <a:solidFill>
              <a:srgbClr val="2A2C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55080" y="16002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9E83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NOW: [CURRENT ERA]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355080" y="1965960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E8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9E8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[Accessible to everyone]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355080" y="2377440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E8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9E8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[Set up in minutes]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355080" y="2788920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E8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9E8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[Massive audience shift]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355080" y="3200400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E8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9E8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[The behavior change that created your category]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4617720"/>
            <a:ext cx="36118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2A2C2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4617720"/>
            <a:ext cx="3611880" cy="13716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E83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[STAT THEN]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370832" y="4617720"/>
            <a:ext cx="3611880" cy="1371600"/>
          </a:xfrm>
          <a:prstGeom prst="rect">
            <a:avLst/>
          </a:prstGeom>
          <a:solidFill>
            <a:srgbClr val="2A2C2E"/>
          </a:solidFill>
          <a:ln w="12700">
            <a:solidFill>
              <a:srgbClr val="2A2C2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70832" y="4617720"/>
            <a:ext cx="3611880" cy="13716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2A8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[STAT NOW]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193024" y="4617720"/>
            <a:ext cx="36118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2A2C2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93024" y="4617720"/>
            <a:ext cx="3611880" cy="13716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E83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[SOURCE, YEAR]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8E8F9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· INDUSTRY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0058400" y="292608"/>
            <a:ext cx="1581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83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[ 2.2 ]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A2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Large and Rapidly Growing Market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758952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2A2C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5544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2A2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GLOBAL [MARKET] VALUE ($B)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171575" y="3569818"/>
            <a:ext cx="628650" cy="746150"/>
          </a:xfrm>
          <a:prstGeom prst="rect">
            <a:avLst/>
          </a:prstGeom>
          <a:solidFill>
            <a:srgbClr val="2A2C2E"/>
          </a:solidFill>
          <a:ln/>
        </p:spPr>
      </p:sp>
      <p:sp>
        <p:nvSpPr>
          <p:cNvPr id="8" name="Text 6"/>
          <p:cNvSpPr/>
          <p:nvPr/>
        </p:nvSpPr>
        <p:spPr>
          <a:xfrm>
            <a:off x="920115" y="3332074"/>
            <a:ext cx="113157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E83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[$XXX]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20115" y="4334256"/>
            <a:ext cx="113157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E8F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[YR]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314575" y="3328416"/>
            <a:ext cx="628650" cy="987552"/>
          </a:xfrm>
          <a:prstGeom prst="rect">
            <a:avLst/>
          </a:prstGeom>
          <a:solidFill>
            <a:srgbClr val="2A2C2E"/>
          </a:solidFill>
          <a:ln/>
        </p:spPr>
      </p:sp>
      <p:sp>
        <p:nvSpPr>
          <p:cNvPr id="11" name="Text 9"/>
          <p:cNvSpPr/>
          <p:nvPr/>
        </p:nvSpPr>
        <p:spPr>
          <a:xfrm>
            <a:off x="2063115" y="3090672"/>
            <a:ext cx="113157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2063115" y="4334256"/>
            <a:ext cx="113157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E8F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[YR+1]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57575" y="3043123"/>
            <a:ext cx="628650" cy="1272845"/>
          </a:xfrm>
          <a:prstGeom prst="rect">
            <a:avLst/>
          </a:prstGeom>
          <a:solidFill>
            <a:srgbClr val="2A2C2E"/>
          </a:solidFill>
          <a:ln/>
        </p:spPr>
      </p:sp>
      <p:sp>
        <p:nvSpPr>
          <p:cNvPr id="14" name="Text 12"/>
          <p:cNvSpPr/>
          <p:nvPr/>
        </p:nvSpPr>
        <p:spPr>
          <a:xfrm>
            <a:off x="3206115" y="2805379"/>
            <a:ext cx="113157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206115" y="4334256"/>
            <a:ext cx="113157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E8F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[YR+2]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600575" y="2735885"/>
            <a:ext cx="628650" cy="1580083"/>
          </a:xfrm>
          <a:prstGeom prst="rect">
            <a:avLst/>
          </a:prstGeom>
          <a:solidFill>
            <a:srgbClr val="2A2C2E"/>
          </a:solidFill>
          <a:ln/>
        </p:spPr>
      </p:sp>
      <p:sp>
        <p:nvSpPr>
          <p:cNvPr id="17" name="Text 15"/>
          <p:cNvSpPr/>
          <p:nvPr/>
        </p:nvSpPr>
        <p:spPr>
          <a:xfrm>
            <a:off x="4349115" y="2498141"/>
            <a:ext cx="113157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349115" y="4334256"/>
            <a:ext cx="113157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E8F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[YR+3]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743575" y="2428646"/>
            <a:ext cx="628650" cy="1887322"/>
          </a:xfrm>
          <a:prstGeom prst="rect">
            <a:avLst/>
          </a:prstGeom>
          <a:solidFill>
            <a:srgbClr val="2A2C2E"/>
          </a:solidFill>
          <a:ln/>
        </p:spPr>
      </p:sp>
      <p:sp>
        <p:nvSpPr>
          <p:cNvPr id="20" name="Text 18"/>
          <p:cNvSpPr/>
          <p:nvPr/>
        </p:nvSpPr>
        <p:spPr>
          <a:xfrm>
            <a:off x="5492115" y="2190902"/>
            <a:ext cx="113157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492115" y="4334256"/>
            <a:ext cx="113157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E8F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[YR+4]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886575" y="2121408"/>
            <a:ext cx="628650" cy="2194560"/>
          </a:xfrm>
          <a:prstGeom prst="rect">
            <a:avLst/>
          </a:prstGeom>
          <a:solidFill>
            <a:srgbClr val="2A2C2E"/>
          </a:solidFill>
          <a:ln/>
        </p:spPr>
      </p:sp>
      <p:sp>
        <p:nvSpPr>
          <p:cNvPr id="23" name="Text 21"/>
          <p:cNvSpPr/>
          <p:nvPr/>
        </p:nvSpPr>
        <p:spPr>
          <a:xfrm>
            <a:off x="6635115" y="1883664"/>
            <a:ext cx="113157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E83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[$XXX]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635115" y="4334256"/>
            <a:ext cx="113157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E8F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[YR+5]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8549640" y="1417320"/>
            <a:ext cx="3063240" cy="1097280"/>
          </a:xfrm>
          <a:prstGeom prst="rect">
            <a:avLst/>
          </a:prstGeom>
          <a:solidFill>
            <a:srgbClr val="2A2C2E"/>
          </a:solidFill>
          <a:ln w="12700">
            <a:solidFill>
              <a:srgbClr val="2A2C2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49640" y="141732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2A8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[XX%] CAGR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8549640" y="2697480"/>
            <a:ext cx="30632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2A2C2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732520" y="283464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2A2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732520" y="3154680"/>
            <a:ext cx="2697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500"/>
              </a:spcAft>
              <a:buSzPct val="100000"/>
              <a:buChar char="▪"/>
            </a:pPr>
            <a:r>
              <a:rPr lang="en-US" sz="1000" dirty="0">
                <a:solidFill>
                  <a:srgbClr val="9E8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[Research firm 1]</a:t>
            </a:r>
            <a:endParaRPr lang="en-US" sz="1000" dirty="0"/>
          </a:p>
          <a:p>
            <a:pPr marL="127000" indent="-127000">
              <a:spcAft>
                <a:spcPts val="500"/>
              </a:spcAft>
              <a:buSzPct val="100000"/>
              <a:buChar char="▪"/>
            </a:pPr>
            <a:r>
              <a:rPr lang="en-US" sz="1000" dirty="0">
                <a:solidFill>
                  <a:srgbClr val="9E8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[Research firm 2]</a:t>
            </a:r>
            <a:endParaRPr lang="en-US" sz="1000" dirty="0"/>
          </a:p>
          <a:p>
            <a:pPr marL="127000" indent="-127000">
              <a:spcAft>
                <a:spcPts val="500"/>
              </a:spcAft>
              <a:buSzPct val="100000"/>
              <a:buChar char="▪"/>
            </a:pPr>
            <a:r>
              <a:rPr lang="en-US" sz="1000" dirty="0">
                <a:solidFill>
                  <a:srgbClr val="9E8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[Industry report]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48640" y="5074920"/>
            <a:ext cx="36118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2A2C2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7240" y="5230368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E83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[XX%]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777240" y="571500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A2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[of TARGET GROUP using your category]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370832" y="5074920"/>
            <a:ext cx="36118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2A2C2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99432" y="5230368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E83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[N M]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4599432" y="571500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A2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[potential customers worldwide]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8193024" y="5074920"/>
            <a:ext cx="36118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2A2C2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421624" y="5230368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E83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[N M]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8421624" y="571500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A2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[broader population it grows into]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8E8F9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· INDUSTRY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0058400" y="292608"/>
            <a:ext cx="1581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83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[ 2.3 ]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A2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Your TAM, Two Ways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2A2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TOP-DOWN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30175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2A2C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965960"/>
            <a:ext cx="3017520" cy="1051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E83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[Total market value $XXXB]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0" y="1965960"/>
            <a:ext cx="457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8E8F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206240" y="1965960"/>
            <a:ext cx="30175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2A2C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06240" y="1965960"/>
            <a:ext cx="3017520" cy="1051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E83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[Your category's share %]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0" y="1965960"/>
            <a:ext cx="457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8E8F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7863840" y="1965960"/>
            <a:ext cx="3749040" cy="1051560"/>
          </a:xfrm>
          <a:prstGeom prst="rect">
            <a:avLst/>
          </a:prstGeom>
          <a:solidFill>
            <a:srgbClr val="2A2C2E"/>
          </a:solidFill>
          <a:ln w="12700">
            <a:solidFill>
              <a:srgbClr val="2A2C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63840" y="1965960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2A8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[$X.XB TAM]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48640" y="333756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2A2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BOTTOM-UP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48640" y="3657600"/>
            <a:ext cx="30175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2A2C2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657600"/>
            <a:ext cx="3017520" cy="1051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E83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[N potential customers]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657600" y="3657600"/>
            <a:ext cx="457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8E8F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4206240" y="3657600"/>
            <a:ext cx="30175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2A2C2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06240" y="3657600"/>
            <a:ext cx="3017520" cy="1051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E83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[Conservative $ / customer]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315200" y="3657600"/>
            <a:ext cx="457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8E8F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7863840" y="3657600"/>
            <a:ext cx="3749040" cy="1051560"/>
          </a:xfrm>
          <a:prstGeom prst="rect">
            <a:avLst/>
          </a:prstGeom>
          <a:solidFill>
            <a:srgbClr val="2A2C2E"/>
          </a:solidFill>
          <a:ln w="12700">
            <a:solidFill>
              <a:srgbClr val="2A2C2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863840" y="3657600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2A8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[$X.XB TAM]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548640" y="5120640"/>
            <a:ext cx="110642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2A2C2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5120640"/>
            <a:ext cx="10607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9E83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MOVE   </a:t>
            </a:r>
            <a:pPr indent="0" marL="0">
              <a:buNone/>
            </a:pPr>
            <a:r>
              <a:rPr lang="en-US" sz="1100" dirty="0">
                <a:solidFill>
                  <a:srgbClr val="2A2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independent methods landing on the same number. Label every assumption conservative, footnote every source, and show TAM growing to </a:t>
            </a:r>
            <a:pPr indent="0" marL="0">
              <a:buNone/>
            </a:pPr>
            <a:r>
              <a:rPr lang="en-US" sz="1100" b="1" dirty="0">
                <a:solidFill>
                  <a:srgbClr val="9E8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[$X.XB in 5 years at XX% CAGR]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822960"/>
            <a:ext cx="457200" cy="457200"/>
          </a:xfrm>
          <a:prstGeom prst="rect">
            <a:avLst/>
          </a:prstGeom>
          <a:ln w="19050">
            <a:solidFill>
              <a:srgbClr val="C2A87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22860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2A8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[ 03 ]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22960" y="29718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Solutions &amp; Technology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41248" y="406908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7E6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product does, shown as jobs done for the customer. Real screenshots only.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778240" y="63093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E8F9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EXIT DECK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8E8F9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· SOLUTIONS &amp; TECHNOLOGY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0058400" y="292608"/>
            <a:ext cx="1581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83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[ 3.1 ]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A2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Platform Overview: End-to-End [Workflow]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777240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2A2C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572768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2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[MODULE 1]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017520" y="157276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E8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[Discover: the job it does, one line]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2249424"/>
            <a:ext cx="777240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2A2C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359152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2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[MODULE 2]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017520" y="235915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E8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[Automate: the job it does, one line]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3035808"/>
            <a:ext cx="777240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2A2C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3145536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2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[MODULE 3]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017520" y="314553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E8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[Sync: the job it does, one line]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3822192"/>
            <a:ext cx="777240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2A2C2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9319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2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[MODULE 4]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017520" y="39319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E8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[Manage: the job it does, one line]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4608576"/>
            <a:ext cx="777240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2A2C2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4718304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2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[MODULE 5]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017520" y="4718304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E8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[Analyze: the job it does, one line]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5394960"/>
            <a:ext cx="777240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2A2C2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5504688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2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[MODULE 6]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017520" y="550468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E8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[Educate: the job it does, one line]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595360" y="1463040"/>
            <a:ext cx="3017520" cy="4626864"/>
          </a:xfrm>
          <a:prstGeom prst="rect">
            <a:avLst/>
          </a:prstGeom>
          <a:solidFill>
            <a:srgbClr val="2A2C2E"/>
          </a:solidFill>
          <a:ln w="12700">
            <a:solidFill>
              <a:srgbClr val="2A2C2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823960" y="164592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C2A8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ENABLING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8823960" y="2103120"/>
            <a:ext cx="2560320" cy="1051560"/>
          </a:xfrm>
          <a:prstGeom prst="rect">
            <a:avLst/>
          </a:prstGeom>
          <a:solidFill>
            <a:srgbClr val="222426"/>
          </a:solidFill>
          <a:ln w="9525">
            <a:solidFill>
              <a:srgbClr val="8E8F9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823960" y="2103120"/>
            <a:ext cx="2560320" cy="1051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2A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[Customer revenue growth]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823960" y="3429000"/>
            <a:ext cx="2560320" cy="1051560"/>
          </a:xfrm>
          <a:prstGeom prst="rect">
            <a:avLst/>
          </a:prstGeom>
          <a:solidFill>
            <a:srgbClr val="222426"/>
          </a:solidFill>
          <a:ln w="9525">
            <a:solidFill>
              <a:srgbClr val="8E8F9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823960" y="3429000"/>
            <a:ext cx="2560320" cy="1051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2A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[Brand building]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823960" y="4754880"/>
            <a:ext cx="2560320" cy="1051560"/>
          </a:xfrm>
          <a:prstGeom prst="rect">
            <a:avLst/>
          </a:prstGeom>
          <a:solidFill>
            <a:srgbClr val="222426"/>
          </a:solidFill>
          <a:ln w="9525">
            <a:solidFill>
              <a:srgbClr val="8E8F9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823960" y="4754880"/>
            <a:ext cx="2560320" cy="1051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2A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[Business scale]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8E8F9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· SOLUTIONS &amp; TECHNOLOGY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0058400" y="292608"/>
            <a:ext cx="1581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83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[ 3.2 ]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A2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Deep Channel Integrations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2A2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INTEGRATION TIMELINE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822960" y="2423160"/>
            <a:ext cx="6583680" cy="18288"/>
          </a:xfrm>
          <a:prstGeom prst="rect">
            <a:avLst/>
          </a:prstGeom>
          <a:solidFill>
            <a:srgbClr val="8E8F92"/>
          </a:solidFill>
          <a:ln/>
        </p:spPr>
      </p:sp>
      <p:sp>
        <p:nvSpPr>
          <p:cNvPr id="7" name="Shape 5"/>
          <p:cNvSpPr/>
          <p:nvPr/>
        </p:nvSpPr>
        <p:spPr>
          <a:xfrm>
            <a:off x="768096" y="2368296"/>
            <a:ext cx="109728" cy="109728"/>
          </a:xfrm>
          <a:prstGeom prst="ellipse">
            <a:avLst/>
          </a:prstGeom>
          <a:solidFill>
            <a:srgbClr val="2A2C2E"/>
          </a:solidFill>
          <a:ln/>
        </p:spPr>
      </p:sp>
      <p:sp>
        <p:nvSpPr>
          <p:cNvPr id="8" name="Text 6"/>
          <p:cNvSpPr/>
          <p:nvPr/>
        </p:nvSpPr>
        <p:spPr>
          <a:xfrm>
            <a:off x="137160" y="18288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E83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[PLATFORM]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37160" y="208483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E8F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[YEAR]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414016" y="2368296"/>
            <a:ext cx="109728" cy="109728"/>
          </a:xfrm>
          <a:prstGeom prst="ellipse">
            <a:avLst/>
          </a:prstGeom>
          <a:solidFill>
            <a:srgbClr val="2A2C2E"/>
          </a:solidFill>
          <a:ln/>
        </p:spPr>
      </p:sp>
      <p:sp>
        <p:nvSpPr>
          <p:cNvPr id="11" name="Text 9"/>
          <p:cNvSpPr/>
          <p:nvPr/>
        </p:nvSpPr>
        <p:spPr>
          <a:xfrm>
            <a:off x="1783080" y="26060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E83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[PLATFORM]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783080" y="286207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E8F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[YEAR]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059936" y="2368296"/>
            <a:ext cx="109728" cy="109728"/>
          </a:xfrm>
          <a:prstGeom prst="ellipse">
            <a:avLst/>
          </a:prstGeom>
          <a:solidFill>
            <a:srgbClr val="2A2C2E"/>
          </a:solidFill>
          <a:ln/>
        </p:spPr>
      </p:sp>
      <p:sp>
        <p:nvSpPr>
          <p:cNvPr id="14" name="Text 12"/>
          <p:cNvSpPr/>
          <p:nvPr/>
        </p:nvSpPr>
        <p:spPr>
          <a:xfrm>
            <a:off x="3429000" y="18288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E83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[PLATFORM]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429000" y="208483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E8F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[YEAR]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705856" y="2368296"/>
            <a:ext cx="109728" cy="109728"/>
          </a:xfrm>
          <a:prstGeom prst="ellipse">
            <a:avLst/>
          </a:prstGeom>
          <a:solidFill>
            <a:srgbClr val="2A2C2E"/>
          </a:solidFill>
          <a:ln/>
        </p:spPr>
      </p:sp>
      <p:sp>
        <p:nvSpPr>
          <p:cNvPr id="17" name="Text 15"/>
          <p:cNvSpPr/>
          <p:nvPr/>
        </p:nvSpPr>
        <p:spPr>
          <a:xfrm>
            <a:off x="5074920" y="26060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E83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[PLATFORM]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074920" y="286207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E8F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[YEAR]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7351776" y="2368296"/>
            <a:ext cx="109728" cy="109728"/>
          </a:xfrm>
          <a:prstGeom prst="ellipse">
            <a:avLst/>
          </a:prstGeom>
          <a:solidFill>
            <a:srgbClr val="C2A878"/>
          </a:solidFill>
          <a:ln/>
        </p:spPr>
      </p:sp>
      <p:sp>
        <p:nvSpPr>
          <p:cNvPr id="20" name="Text 18"/>
          <p:cNvSpPr/>
          <p:nvPr/>
        </p:nvSpPr>
        <p:spPr>
          <a:xfrm>
            <a:off x="6720840" y="18288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E83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[PLATFORM]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720840" y="208483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E8F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[YEAR]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8138160" y="1463040"/>
            <a:ext cx="34747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2A2C2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321040" y="160020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2A2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REVENUE MIX BY CHANNEL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8321040" y="1938528"/>
            <a:ext cx="31089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2A2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[Channel A]  </a:t>
            </a:r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9E8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[XX%]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2A2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[Channel B]  </a:t>
            </a:r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9E8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[XX%]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2A2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[Other]  </a:t>
            </a:r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9E8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[XX%]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8640" y="3566160"/>
            <a:ext cx="731520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2A2C2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37033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2A2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INTEGRATIONS COMPOUND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731520" y="4069080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E8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9E8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[Access to wider audiences, new geographies, more storefronts]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31520" y="4572000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E8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9E8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[More usage = better data = smarter product]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31520" y="5074920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E8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9E8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[Better experience attracts the next wave of users]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31520" y="5577840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E8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9E8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[Each integration is a moat AND a growth channel]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138160" y="3566160"/>
            <a:ext cx="3474720" cy="2651760"/>
          </a:xfrm>
          <a:prstGeom prst="rect">
            <a:avLst/>
          </a:prstGeom>
          <a:solidFill>
            <a:srgbClr val="2A2C2E"/>
          </a:solidFill>
          <a:ln w="12700">
            <a:solidFill>
              <a:srgbClr val="2A2C2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38160" y="411480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2A8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[PARTNER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C2A8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 / TIER]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366760" y="512064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7E6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[Your deepest platform partnership, named]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8E8F9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· SOLUTIONS &amp; TECHNOLOGY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0058400" y="292608"/>
            <a:ext cx="1581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83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[ 3.3 ]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A2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Supply Side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2651760" cy="548640"/>
          </a:xfrm>
          <a:prstGeom prst="rect">
            <a:avLst/>
          </a:prstGeom>
          <a:solidFill>
            <a:srgbClr val="E7E6E3"/>
          </a:solidFill>
          <a:ln w="12700">
            <a:solidFill>
              <a:srgbClr val="2A2C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4630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A2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[SUPPLY TYPE 1]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265176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2A2C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22860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150" kern="0" dirty="0">
                <a:solidFill>
                  <a:srgbClr val="2A2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ADVANTAGES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13232" y="2606040"/>
            <a:ext cx="2331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500"/>
              </a:spcAft>
              <a:buSzPct val="100000"/>
              <a:buChar char="▪"/>
            </a:pPr>
            <a:r>
              <a:rPr lang="en-US" sz="950" dirty="0">
                <a:solidFill>
                  <a:srgbClr val="9E8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[Speed]</a:t>
            </a:r>
            <a:endParaRPr lang="en-US" sz="950" dirty="0"/>
          </a:p>
          <a:p>
            <a:pPr marL="127000" indent="-127000">
              <a:spcAft>
                <a:spcPts val="500"/>
              </a:spcAft>
              <a:buSzPct val="100000"/>
              <a:buChar char="▪"/>
            </a:pPr>
            <a:r>
              <a:rPr lang="en-US" sz="950" dirty="0">
                <a:solidFill>
                  <a:srgbClr val="9E8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[Quality]</a:t>
            </a:r>
            <a:endParaRPr lang="en-US" sz="950" dirty="0"/>
          </a:p>
          <a:p>
            <a:pPr marL="127000" indent="-127000">
              <a:spcAft>
                <a:spcPts val="500"/>
              </a:spcAft>
              <a:buSzPct val="100000"/>
              <a:buChar char="▪"/>
            </a:pPr>
            <a:r>
              <a:rPr lang="en-US" sz="950" dirty="0">
                <a:solidFill>
                  <a:srgbClr val="9E8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[Price]</a:t>
            </a:r>
            <a:endParaRPr lang="en-US" sz="950" dirty="0"/>
          </a:p>
          <a:p>
            <a:pPr marL="127000" indent="-127000">
              <a:spcAft>
                <a:spcPts val="500"/>
              </a:spcAft>
              <a:buSzPct val="100000"/>
              <a:buChar char="▪"/>
            </a:pPr>
            <a:r>
              <a:rPr lang="en-US" sz="950" dirty="0">
                <a:solidFill>
                  <a:srgbClr val="9E8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[Branding]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383280" y="1463040"/>
            <a:ext cx="2651760" cy="548640"/>
          </a:xfrm>
          <a:prstGeom prst="rect">
            <a:avLst/>
          </a:prstGeom>
          <a:solidFill>
            <a:srgbClr val="E7E6E3"/>
          </a:solidFill>
          <a:ln w="12700">
            <a:solidFill>
              <a:srgbClr val="2A2C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0" y="14630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A2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[SUPPLY TYPE 2]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383280" y="2148840"/>
            <a:ext cx="265176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2A2C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47872" y="22860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150" kern="0" dirty="0">
                <a:solidFill>
                  <a:srgbClr val="2A2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ADVANTAGES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547872" y="2606040"/>
            <a:ext cx="2331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500"/>
              </a:spcAft>
              <a:buSzPct val="100000"/>
              <a:buChar char="▪"/>
            </a:pPr>
            <a:r>
              <a:rPr lang="en-US" sz="950" dirty="0">
                <a:solidFill>
                  <a:srgbClr val="9E8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[Speed]</a:t>
            </a:r>
            <a:endParaRPr lang="en-US" sz="950" dirty="0"/>
          </a:p>
          <a:p>
            <a:pPr marL="127000" indent="-127000">
              <a:spcAft>
                <a:spcPts val="500"/>
              </a:spcAft>
              <a:buSzPct val="100000"/>
              <a:buChar char="▪"/>
            </a:pPr>
            <a:r>
              <a:rPr lang="en-US" sz="950" dirty="0">
                <a:solidFill>
                  <a:srgbClr val="9E8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[Quality]</a:t>
            </a:r>
            <a:endParaRPr lang="en-US" sz="950" dirty="0"/>
          </a:p>
          <a:p>
            <a:pPr marL="127000" indent="-127000">
              <a:spcAft>
                <a:spcPts val="500"/>
              </a:spcAft>
              <a:buSzPct val="100000"/>
              <a:buChar char="▪"/>
            </a:pPr>
            <a:r>
              <a:rPr lang="en-US" sz="950" dirty="0">
                <a:solidFill>
                  <a:srgbClr val="9E8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[Price]</a:t>
            </a:r>
            <a:endParaRPr lang="en-US" sz="950" dirty="0"/>
          </a:p>
          <a:p>
            <a:pPr marL="127000" indent="-127000">
              <a:spcAft>
                <a:spcPts val="500"/>
              </a:spcAft>
              <a:buSzPct val="100000"/>
              <a:buChar char="▪"/>
            </a:pPr>
            <a:r>
              <a:rPr lang="en-US" sz="950" dirty="0">
                <a:solidFill>
                  <a:srgbClr val="9E8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[Branding]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217920" y="1463040"/>
            <a:ext cx="2651760" cy="548640"/>
          </a:xfrm>
          <a:prstGeom prst="rect">
            <a:avLst/>
          </a:prstGeom>
          <a:solidFill>
            <a:srgbClr val="E7E6E3"/>
          </a:solidFill>
          <a:ln w="12700">
            <a:solidFill>
              <a:srgbClr val="2A2C2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14630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A2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[SUPPLY TYPE 3]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17920" y="2148840"/>
            <a:ext cx="265176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2A2C2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82512" y="22860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150" kern="0" dirty="0">
                <a:solidFill>
                  <a:srgbClr val="2A2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ADVANTAGES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382512" y="2606040"/>
            <a:ext cx="2331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500"/>
              </a:spcAft>
              <a:buSzPct val="100000"/>
              <a:buChar char="▪"/>
            </a:pPr>
            <a:r>
              <a:rPr lang="en-US" sz="950" dirty="0">
                <a:solidFill>
                  <a:srgbClr val="9E8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[Speed]</a:t>
            </a:r>
            <a:endParaRPr lang="en-US" sz="950" dirty="0"/>
          </a:p>
          <a:p>
            <a:pPr marL="127000" indent="-127000">
              <a:spcAft>
                <a:spcPts val="500"/>
              </a:spcAft>
              <a:buSzPct val="100000"/>
              <a:buChar char="▪"/>
            </a:pPr>
            <a:r>
              <a:rPr lang="en-US" sz="950" dirty="0">
                <a:solidFill>
                  <a:srgbClr val="9E8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[Quality]</a:t>
            </a:r>
            <a:endParaRPr lang="en-US" sz="950" dirty="0"/>
          </a:p>
          <a:p>
            <a:pPr marL="127000" indent="-127000">
              <a:spcAft>
                <a:spcPts val="500"/>
              </a:spcAft>
              <a:buSzPct val="100000"/>
              <a:buChar char="▪"/>
            </a:pPr>
            <a:r>
              <a:rPr lang="en-US" sz="950" dirty="0">
                <a:solidFill>
                  <a:srgbClr val="9E8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[Price]</a:t>
            </a:r>
            <a:endParaRPr lang="en-US" sz="950" dirty="0"/>
          </a:p>
          <a:p>
            <a:pPr marL="127000" indent="-127000">
              <a:spcAft>
                <a:spcPts val="500"/>
              </a:spcAft>
              <a:buSzPct val="100000"/>
              <a:buChar char="▪"/>
            </a:pPr>
            <a:r>
              <a:rPr lang="en-US" sz="950" dirty="0">
                <a:solidFill>
                  <a:srgbClr val="9E8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[Branding]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9052560" y="1463040"/>
            <a:ext cx="2651760" cy="548640"/>
          </a:xfrm>
          <a:prstGeom prst="rect">
            <a:avLst/>
          </a:prstGeom>
          <a:solidFill>
            <a:srgbClr val="2A2C2E"/>
          </a:solidFill>
          <a:ln w="12700">
            <a:solidFill>
              <a:srgbClr val="2A2C2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052560" y="14630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2A8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[EXCLUSIVE TYPE]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052560" y="2148840"/>
            <a:ext cx="265176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2A2C2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217152" y="22860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150" kern="0" dirty="0">
                <a:solidFill>
                  <a:srgbClr val="2A2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ADVANTAGES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9217152" y="2606040"/>
            <a:ext cx="2331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500"/>
              </a:spcAft>
              <a:buSzPct val="100000"/>
              <a:buChar char="▪"/>
            </a:pPr>
            <a:r>
              <a:rPr lang="en-US" sz="950" dirty="0">
                <a:solidFill>
                  <a:srgbClr val="9E8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[Speed]</a:t>
            </a:r>
            <a:endParaRPr lang="en-US" sz="950" dirty="0"/>
          </a:p>
          <a:p>
            <a:pPr marL="127000" indent="-127000">
              <a:spcAft>
                <a:spcPts val="500"/>
              </a:spcAft>
              <a:buSzPct val="100000"/>
              <a:buChar char="▪"/>
            </a:pPr>
            <a:r>
              <a:rPr lang="en-US" sz="950" dirty="0">
                <a:solidFill>
                  <a:srgbClr val="9E8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[Quality]</a:t>
            </a:r>
            <a:endParaRPr lang="en-US" sz="950" dirty="0"/>
          </a:p>
          <a:p>
            <a:pPr marL="127000" indent="-127000">
              <a:spcAft>
                <a:spcPts val="500"/>
              </a:spcAft>
              <a:buSzPct val="100000"/>
              <a:buChar char="▪"/>
            </a:pPr>
            <a:r>
              <a:rPr lang="en-US" sz="950" dirty="0">
                <a:solidFill>
                  <a:srgbClr val="9E8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[Price]</a:t>
            </a:r>
            <a:endParaRPr lang="en-US" sz="950" dirty="0"/>
          </a:p>
          <a:p>
            <a:pPr marL="127000" indent="-127000">
              <a:spcAft>
                <a:spcPts val="500"/>
              </a:spcAft>
              <a:buSzPct val="100000"/>
              <a:buChar char="▪"/>
            </a:pPr>
            <a:r>
              <a:rPr lang="en-US" sz="950" dirty="0">
                <a:solidFill>
                  <a:srgbClr val="9E8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[Branding]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48640" y="5166360"/>
            <a:ext cx="54406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2A2C2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5166360"/>
            <a:ext cx="5029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E83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[N+]  </a:t>
            </a:r>
            <a:pPr indent="0" marL="0">
              <a:buNone/>
            </a:pPr>
            <a:r>
              <a:rPr lang="en-US" sz="1050" dirty="0">
                <a:solidFill>
                  <a:srgbClr val="2A2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supply breadth across all sources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6172200" y="5166360"/>
            <a:ext cx="5440680" cy="1051560"/>
          </a:xfrm>
          <a:prstGeom prst="rect">
            <a:avLst/>
          </a:prstGeom>
          <a:solidFill>
            <a:srgbClr val="2A2C2E"/>
          </a:solidFill>
          <a:ln w="12700">
            <a:solidFill>
              <a:srgbClr val="2A2C2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0" y="5166360"/>
            <a:ext cx="5029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2A8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[N]  </a:t>
            </a:r>
            <a:pPr indent="0" marL="0">
              <a:buNone/>
            </a:pPr>
            <a:r>
              <a:rPr lang="en-US" sz="1050" dirty="0">
                <a:solidFill>
                  <a:srgbClr val="E7E6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exclusive: only available through you</a:t>
            </a:r>
            <a:endParaRPr lang="en-US" sz="2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8E8F9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· SOLUTIONS &amp; TECHNOLOGY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0058400" y="292608"/>
            <a:ext cx="1581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83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[ 3.4 ]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A2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[Module Name]: [The Job It Does]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6675120" cy="4206240"/>
          </a:xfrm>
          <a:prstGeom prst="rect">
            <a:avLst/>
          </a:prstGeom>
          <a:solidFill>
            <a:srgbClr val="E7E6E3"/>
          </a:solidFill>
          <a:ln w="12700">
            <a:solidFill>
              <a:srgbClr val="2A2C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463040"/>
            <a:ext cx="66751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8E8F9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REAL PRODUCT SCREENSHOT ]</a:t>
            </a:r>
            <a:endParaRPr lang="en-US" sz="120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8E8F9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current UI · no mockups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498080" y="1554480"/>
            <a:ext cx="4023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9E8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9E8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[Capability: the job it does for the customer]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498080" y="2212848"/>
            <a:ext cx="4023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9E8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9E8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[Capability: time it saves, error it prevents]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498080" y="2871216"/>
            <a:ext cx="4023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9E8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9E8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[Capability: the metric it moves]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498080" y="3529584"/>
            <a:ext cx="4023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9E8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9E8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[Capability: what it automates away]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498080" y="4187952"/>
            <a:ext cx="4023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9E8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9E8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[Capability: how it compounds with other modules]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498080" y="4892040"/>
            <a:ext cx="4114800" cy="777240"/>
          </a:xfrm>
          <a:prstGeom prst="rect">
            <a:avLst/>
          </a:prstGeom>
          <a:solidFill>
            <a:srgbClr val="2A2C2E"/>
          </a:solidFill>
          <a:ln w="12700">
            <a:solidFill>
              <a:srgbClr val="2A2C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80960" y="4892040"/>
            <a:ext cx="3794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2A8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UNIQUE:  </a:t>
            </a:r>
            <a:pPr indent="0" marL="0">
              <a:buNone/>
            </a:pPr>
            <a:r>
              <a:rPr lang="en-US" sz="1000" dirty="0">
                <a:solidFill>
                  <a:srgbClr val="E7E6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[the feature nobody else has]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48640" y="5897880"/>
            <a:ext cx="66751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2A2C2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5897880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E83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▶  [ LINK TO 2-MINUTE PRODUCT DEMO ]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8E8F9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· SOLUTIONS &amp; TECHNOLOGY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0058400" y="292608"/>
            <a:ext cx="1581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83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[ 3.5 ]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A2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Roadmap: We Ship What We Plan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2651760" cy="502920"/>
          </a:xfrm>
          <a:prstGeom prst="rect">
            <a:avLst/>
          </a:prstGeom>
          <a:solidFill>
            <a:srgbClr val="2A2C2E"/>
          </a:solidFill>
          <a:ln w="12700">
            <a:solidFill>
              <a:srgbClr val="2A2C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4630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2A8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Q1  ✓ SHIPPED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265176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2A2C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286000"/>
            <a:ext cx="23317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950" dirty="0">
                <a:solidFill>
                  <a:srgbClr val="2A2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[Shipped item]</a:t>
            </a:r>
            <a:endParaRPr lang="en-US" sz="9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950" dirty="0">
                <a:solidFill>
                  <a:srgbClr val="2A2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[Shipped item]</a:t>
            </a:r>
            <a:endParaRPr lang="en-US" sz="9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950" dirty="0">
                <a:solidFill>
                  <a:srgbClr val="2A2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[Shipped item]</a:t>
            </a:r>
            <a:endParaRPr lang="en-US" sz="9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950" dirty="0">
                <a:solidFill>
                  <a:srgbClr val="2A2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[Shipped item]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383280" y="1463040"/>
            <a:ext cx="2651760" cy="502920"/>
          </a:xfrm>
          <a:prstGeom prst="rect">
            <a:avLst/>
          </a:prstGeom>
          <a:solidFill>
            <a:srgbClr val="2A2C2E"/>
          </a:solidFill>
          <a:ln w="12700">
            <a:solidFill>
              <a:srgbClr val="2A2C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0" y="14630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2A8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Q2  ✓ SHIPPED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383280" y="2103120"/>
            <a:ext cx="265176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2A2C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66160" y="2286000"/>
            <a:ext cx="23317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950" dirty="0">
                <a:solidFill>
                  <a:srgbClr val="2A2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[Shipped item]</a:t>
            </a:r>
            <a:endParaRPr lang="en-US" sz="9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950" dirty="0">
                <a:solidFill>
                  <a:srgbClr val="2A2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[Shipped item]</a:t>
            </a:r>
            <a:endParaRPr lang="en-US" sz="9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950" dirty="0">
                <a:solidFill>
                  <a:srgbClr val="2A2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[Shipped item]</a:t>
            </a:r>
            <a:endParaRPr lang="en-US" sz="9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950" dirty="0">
                <a:solidFill>
                  <a:srgbClr val="2A2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[Shipped item]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217920" y="1463040"/>
            <a:ext cx="2651760" cy="502920"/>
          </a:xfrm>
          <a:prstGeom prst="rect">
            <a:avLst/>
          </a:prstGeom>
          <a:solidFill>
            <a:srgbClr val="E7E6E3"/>
          </a:solidFill>
          <a:ln w="12700">
            <a:solidFill>
              <a:srgbClr val="2A2C2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14630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A2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Q3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17920" y="2103120"/>
            <a:ext cx="265176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2A2C2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0" y="2286000"/>
            <a:ext cx="23317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950" dirty="0">
                <a:solidFill>
                  <a:srgbClr val="9E8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[Planned item]</a:t>
            </a:r>
            <a:endParaRPr lang="en-US" sz="9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950" dirty="0">
                <a:solidFill>
                  <a:srgbClr val="9E8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[Planned item]</a:t>
            </a:r>
            <a:endParaRPr lang="en-US" sz="9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950" dirty="0">
                <a:solidFill>
                  <a:srgbClr val="9E8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[Planned item]</a:t>
            </a:r>
            <a:endParaRPr lang="en-US" sz="9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950" dirty="0">
                <a:solidFill>
                  <a:srgbClr val="9E8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[Ambitious, unlabeled]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9052560" y="1463040"/>
            <a:ext cx="2651760" cy="502920"/>
          </a:xfrm>
          <a:prstGeom prst="rect">
            <a:avLst/>
          </a:prstGeom>
          <a:solidFill>
            <a:srgbClr val="E7E6E3"/>
          </a:solidFill>
          <a:ln w="12700">
            <a:solidFill>
              <a:srgbClr val="2A2C2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52560" y="14630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A2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Q4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052560" y="2103120"/>
            <a:ext cx="265176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2A2C2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235440" y="2286000"/>
            <a:ext cx="23317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950" dirty="0">
                <a:solidFill>
                  <a:srgbClr val="9E8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[Planned item]</a:t>
            </a:r>
            <a:endParaRPr lang="en-US" sz="9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950" dirty="0">
                <a:solidFill>
                  <a:srgbClr val="9E8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[Planned item]</a:t>
            </a:r>
            <a:endParaRPr lang="en-US" sz="9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950" dirty="0">
                <a:solidFill>
                  <a:srgbClr val="9E8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[Planned item]</a:t>
            </a:r>
            <a:endParaRPr lang="en-US" sz="9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950" dirty="0">
                <a:solidFill>
                  <a:srgbClr val="9E8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[Ambitious, unlabeled]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48640" y="5623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E8F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roadmap with checkmarks is a promise-keeping record, not a wish list.</a:t>
            </a:r>
            <a:endParaRPr lang="en-US" sz="11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8E8F9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· SOLUTIONS &amp; TECHNOLOGY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0058400" y="292608"/>
            <a:ext cx="1581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83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[ 3.6 ]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A2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Best-in-Class Brand Recognition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77240" y="1828800"/>
            <a:ext cx="1737360" cy="17373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2C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8288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E8F9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[BADGE /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E8F9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LOGO]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21208" y="3794760"/>
            <a:ext cx="22494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E8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[X.X stars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E8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N+ reviews]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017520" y="1828800"/>
            <a:ext cx="1737360" cy="17373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2C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17520" y="18288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E8F9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[BADGE /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E8F9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LOGO]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761488" y="3794760"/>
            <a:ext cx="22494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E8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[Platform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E8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 tier]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257800" y="1828800"/>
            <a:ext cx="1737360" cy="17373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2C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57800" y="18288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E8F9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[BADGE /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E8F9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LOGO]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001768" y="3794760"/>
            <a:ext cx="22494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E8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[Award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E8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winner]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498080" y="1828800"/>
            <a:ext cx="1737360" cy="17373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2C2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0" y="18288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E8F9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[BADGE /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E8F9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LOGO]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242048" y="3794760"/>
            <a:ext cx="22494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E8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[Platform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E8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pick]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9738360" y="1828800"/>
            <a:ext cx="1737360" cy="17373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2C2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738360" y="18288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E8F9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[BADGE /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E8F9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LOGO]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482328" y="3794760"/>
            <a:ext cx="22494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E8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[Top 10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E8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ranking]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48640" y="5074920"/>
            <a:ext cx="11064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2A2C2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507492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9E83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RULE   </a:t>
            </a:r>
            <a:pPr indent="0" marL="0">
              <a:buNone/>
            </a:pPr>
            <a:r>
              <a:rPr lang="en-US" sz="1150" dirty="0">
                <a:solidFill>
                  <a:srgbClr val="2A2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Logos and badges only, no sentences. Third-party recognition compresses weeks of diligence into one glance.</a:t>
            </a:r>
            <a:endParaRPr lang="en-US" sz="9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822960"/>
            <a:ext cx="457200" cy="457200"/>
          </a:xfrm>
          <a:prstGeom prst="rect">
            <a:avLst/>
          </a:prstGeom>
          <a:ln w="19050">
            <a:solidFill>
              <a:srgbClr val="C2A87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22860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2A8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[ 04 ]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22960" y="29718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Architecture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41248" y="406908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7E6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look that says 'this scales'. Volume numbers are receipts; claims are cheap.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778240" y="63093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E8F9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EXIT DECK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8E8F9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· ARCHITECTURE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0058400" y="292608"/>
            <a:ext cx="1581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83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[ 4.1 ]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A2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Built for Scale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265176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2A2C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96596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E83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[N+]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85800" y="27889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A2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customers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83280" y="1554480"/>
            <a:ext cx="265176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2A2C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83280" y="196596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E83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[N]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520440" y="27889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A2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platforms supported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17920" y="1554480"/>
            <a:ext cx="265176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2A2C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0" y="196596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E83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[$XXM+]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355080" y="27889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A2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 volume processed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052560" y="1554480"/>
            <a:ext cx="265176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2A2C2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52560" y="196596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E83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[XXM+]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9189720" y="27889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A2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points monitored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3886200"/>
            <a:ext cx="265176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2A2C2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429768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E83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[XXX+]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85800" y="51206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A2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countries served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383280" y="3886200"/>
            <a:ext cx="265176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2A2C2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83280" y="429768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E83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[XXM]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3520440" y="51206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A2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catalog / dataset size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217920" y="3886200"/>
            <a:ext cx="265176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2A2C2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17920" y="429768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E83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[X M+]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6355080" y="51206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A2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visits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9052560" y="3886200"/>
            <a:ext cx="2651760" cy="2057400"/>
          </a:xfrm>
          <a:prstGeom prst="rect">
            <a:avLst/>
          </a:prstGeom>
          <a:solidFill>
            <a:srgbClr val="2A2C2E"/>
          </a:solidFill>
          <a:ln w="12700">
            <a:solidFill>
              <a:srgbClr val="2A2C2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052560" y="429768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2A8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[XX.XX%]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9189720" y="51206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7E6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uptime</a:t>
            </a:r>
            <a:endParaRPr lang="en-US" sz="10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8E8F9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· ARCHITECTURE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0058400" y="292608"/>
            <a:ext cx="1581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83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[ 4.2 ]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A2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Software Architecture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60520" y="1463040"/>
            <a:ext cx="38404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2A2C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60520" y="1463040"/>
            <a:ext cx="384048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A2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[FRONTEND STACK]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160520" y="2514600"/>
            <a:ext cx="3840480" cy="731520"/>
          </a:xfrm>
          <a:prstGeom prst="rect">
            <a:avLst/>
          </a:prstGeom>
          <a:solidFill>
            <a:srgbClr val="2A2C2E"/>
          </a:solidFill>
          <a:ln w="12700">
            <a:solidFill>
              <a:srgbClr val="2A2C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60520" y="2514600"/>
            <a:ext cx="384048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2A8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[API LAYER]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188720" y="3566160"/>
            <a:ext cx="29260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2A2C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88720" y="3566160"/>
            <a:ext cx="292608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A2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[DATABASES]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17720" y="3566160"/>
            <a:ext cx="29260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2A2C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17720" y="3566160"/>
            <a:ext cx="292608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A2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[WORKERS / JOBS]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046720" y="3566160"/>
            <a:ext cx="29260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2A2C2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46720" y="3566160"/>
            <a:ext cx="292608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A2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[QUEUES / EVENTS]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188720" y="4617720"/>
            <a:ext cx="97840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2A2C2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88720" y="4617720"/>
            <a:ext cx="978408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A2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[INTEGRATIONS &amp; EXTERNAL PLATFORMS]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5715000"/>
            <a:ext cx="11064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2A2C2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571500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9E83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KEEP IT GENERIC   </a:t>
            </a:r>
            <a:pPr indent="0" marL="0">
              <a:buNone/>
            </a:pPr>
            <a:r>
              <a:rPr lang="en-US" sz="1050" dirty="0">
                <a:solidFill>
                  <a:srgbClr val="2A2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Enough to prove a real engineering org built this. Never security-sensitive detail, exact service names, or anything an attacker could map.</a:t>
            </a:r>
            <a:endParaRPr lang="en-US" sz="9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822960"/>
            <a:ext cx="457200" cy="457200"/>
          </a:xfrm>
          <a:prstGeom prst="rect">
            <a:avLst/>
          </a:prstGeom>
          <a:ln w="19050">
            <a:solidFill>
              <a:srgbClr val="C2A87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22860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2A8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[ 05 ]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22960" y="29718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Competitive Landscape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41248" y="406908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7E6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real competitors. An honest matrix survives diligence; an inflated one dies there.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778240" y="63093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E8F9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EXIT DECK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8E8F9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· COMPETITIVE LANDSCAPE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0058400" y="292608"/>
            <a:ext cx="1581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83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[ 5.1 ]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A2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Only All-in-One in a Fragmented Market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822960" y="1554480"/>
            <a:ext cx="32004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2A2C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6916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E83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[POINT SOLUTION A]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60120" y="210312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E8F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[competitor]  [competitor]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8E8F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[competitor]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8183880" y="1554480"/>
            <a:ext cx="32004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2A2C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83880" y="16916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E83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[POINT SOLUTION B]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321040" y="210312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E8F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[competitor]  [competitor]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8E8F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[competitor]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822960" y="4206240"/>
            <a:ext cx="32004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2A2C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43434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E83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[POINT SOLUTION C]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60120" y="475488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E8F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[competitor]  [competitor]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8E8F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[competitor]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183880" y="4206240"/>
            <a:ext cx="32004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2A2C2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83880" y="43434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E83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[POINT SOLUTION D]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321040" y="475488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E8F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[competitor]  [competitor]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8E8F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[competitor]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727448" y="2286000"/>
            <a:ext cx="2743200" cy="2743200"/>
          </a:xfrm>
          <a:prstGeom prst="ellipse">
            <a:avLst/>
          </a:prstGeom>
          <a:solidFill>
            <a:srgbClr val="2A2C2E"/>
          </a:solidFill>
          <a:ln w="19050">
            <a:solidFill>
              <a:srgbClr val="C2A87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27448" y="2286000"/>
            <a:ext cx="2743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C2A8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YOU ]</a:t>
            </a:r>
            <a:endParaRPr lang="en-US" sz="12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C2A8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complete</a:t>
            </a:r>
            <a:endParaRPr lang="en-US" sz="12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C2A8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platform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651760" y="5943600"/>
            <a:ext cx="68580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2A2C2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651760" y="594360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E83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MOATS:  [unique tech]  ·  [brand]  ·  [relationships]  ·  [breadth]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8E8F9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· COMPETITIVE LANDSCAPE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0058400" y="292608"/>
            <a:ext cx="1581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83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[ 5.2 ]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A2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Capability Comparison</a:t>
            </a:r>
            <a:endParaRPr lang="en-US" sz="24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737360"/>
                <a:gridCol w="1389888"/>
                <a:gridCol w="1389888"/>
                <a:gridCol w="1389888"/>
                <a:gridCol w="1389888"/>
                <a:gridCol w="1389888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2A87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[YOU]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C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A2C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[Comp A]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A2C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[Comp B]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A2C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[Comp C]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A2C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[Comp D]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A2C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[Comp E]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3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9E83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[Capability 1]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9E83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E8F9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E8F9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8E8F9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partial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E8F9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9E83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[Capability 2]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9E83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E8F9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8E8F9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partial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E8F9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9E83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[Capability 3]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9E83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8E8F9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partial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E8F9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E8F9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9E83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[Capability 4]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9E83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8E8F9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partial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E8F9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E8F9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8E8F9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partial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9E83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[Capability 5]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9E83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E8F9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E8F9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8E8F9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partial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9E83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[Capability 6]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9E83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E8F9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8E8F9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partial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E8F9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9E83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[Capability 7]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9E83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E8F9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8E8F9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partial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E8F9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E8F9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9E83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[Capability 8]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9E83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8E8F9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partial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E8F9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E8F9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E8F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 competitors their real partial checkmarks. Honesty here is what makes YOUR full column believable.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822960"/>
            <a:ext cx="457200" cy="457200"/>
          </a:xfrm>
          <a:prstGeom prst="rect">
            <a:avLst/>
          </a:prstGeom>
          <a:ln w="19050">
            <a:solidFill>
              <a:srgbClr val="C2A87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22860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2A8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[ 06 ]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22960" y="29718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Customers &amp; Marketing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41248" y="406908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7E6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growth engine, then the unit economics. This is where good deals become great ones.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778240" y="63093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E8F9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EXIT DECK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8E8F9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· CUSTOMERS &amp; MARKETING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0058400" y="292608"/>
            <a:ext cx="1581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83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[ 6.1 ]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A2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Cost-Effective, Low-Touch Growth Engine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295248" y="1508760"/>
            <a:ext cx="96012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2A2C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23848" y="1600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2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AWARENESS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523848" y="1874520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E8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[influencers / partners]  ·  [educational content]  ·  [social]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163928" y="2441448"/>
            <a:ext cx="78638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2A2C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92528" y="253288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2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TRAFFIC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392528" y="2807208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E8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[SEO]  ·  [PPC]  ·  [word of mouth]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032608" y="3374136"/>
            <a:ext cx="61264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2A2C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61208" y="346557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2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SIGNUPS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261208" y="3739896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E8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[the free hook that converts]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901288" y="4306824"/>
            <a:ext cx="43891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2A2C2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29888" y="439826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2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TRIALS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129888" y="4672584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E8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[trial offer]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41368" y="5239512"/>
            <a:ext cx="3108960" cy="777240"/>
          </a:xfrm>
          <a:prstGeom prst="rect">
            <a:avLst/>
          </a:prstGeom>
          <a:solidFill>
            <a:srgbClr val="2A2C2E"/>
          </a:solidFill>
          <a:ln w="12700">
            <a:solidFill>
              <a:srgbClr val="2A2C2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69968" y="533095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2A8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ACTIVE CUSTOMERS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769968" y="560527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7E6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[activation moment]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E8F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frame that wins: growth that does not depend on hiring a sales army.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8E8F9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· CUSTOMERS &amp; MARKETING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0058400" y="292608"/>
            <a:ext cx="1581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83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[ 6.2 ]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A2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Funnel, With Real Numbers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822960" y="1508760"/>
            <a:ext cx="89611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2A2C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1728216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2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[SESSIONS]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0" y="1728216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E83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[X.XM]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921240" y="21945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E83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[XX%] →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822960" y="2423160"/>
            <a:ext cx="7406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2A2C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2642616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2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[NEW VISITORS]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675120" y="2642616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E83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[X.XM]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366760" y="31089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E83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[XX%] →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22960" y="3337560"/>
            <a:ext cx="58521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2A2C2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3557016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2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[SIGNUPS]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120640" y="3557016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E83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[XXXk]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812280" y="40233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E83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[XX%] →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22960" y="4251960"/>
            <a:ext cx="42976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2A2C2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1560" y="4471416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2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[TRIALS]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566160" y="4471416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E83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[XXXk]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257800" y="49377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E83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[XX%] →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822960" y="5166360"/>
            <a:ext cx="2743200" cy="749808"/>
          </a:xfrm>
          <a:prstGeom prst="rect">
            <a:avLst/>
          </a:prstGeom>
          <a:solidFill>
            <a:srgbClr val="2A2C2E"/>
          </a:solidFill>
          <a:ln w="12700">
            <a:solidFill>
              <a:srgbClr val="2A2C2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51560" y="5385816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2A8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[ACTIVATIONS]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011680" y="5385816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2A8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[XXk]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778240" y="1508760"/>
            <a:ext cx="283464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2A2C2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961120" y="164592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2A2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LEAD MIX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8961120" y="2011680"/>
            <a:ext cx="2468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2A2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[Organic]  </a:t>
            </a:r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9E8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[XX%]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2A2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[Partnership]  </a:t>
            </a:r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9E8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[XX%]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2A2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[Paid]  </a:t>
            </a:r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9E8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[XX%]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778240" y="4526280"/>
            <a:ext cx="28346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2A2C2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006840" y="4526280"/>
            <a:ext cx="23774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E8F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higher your organic share, the better this slide reads.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8E8F9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· CUSTOMERS &amp; MARKETING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0058400" y="292608"/>
            <a:ext cx="1581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83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[ 6.3 ]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A2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[#1 Channel] Deep-Dive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667512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2A2C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6002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2A2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THE CHANNEL WORKS FOR US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731520" y="1965960"/>
            <a:ext cx="63093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▪"/>
            </a:pPr>
            <a:r>
              <a:rPr lang="en-US" sz="1050" dirty="0">
                <a:solidFill>
                  <a:srgbClr val="9E8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[The mechanics: who, what, where]</a:t>
            </a:r>
            <a:endParaRPr lang="en-US" sz="1050" dirty="0"/>
          </a:p>
          <a:p>
            <a:pPr marL="127000" indent="-127000">
              <a:spcAft>
                <a:spcPts val="600"/>
              </a:spcAft>
              <a:buSzPct val="100000"/>
              <a:buChar char="▪"/>
            </a:pPr>
            <a:r>
              <a:rPr lang="en-US" sz="1050" dirty="0">
                <a:solidFill>
                  <a:srgbClr val="9E8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[Why it fits your product and audience]</a:t>
            </a:r>
            <a:endParaRPr lang="en-US" sz="1050" dirty="0"/>
          </a:p>
          <a:p>
            <a:pPr marL="127000" indent="-127000">
              <a:spcAft>
                <a:spcPts val="600"/>
              </a:spcAft>
              <a:buSzPct val="100000"/>
              <a:buChar char="▪"/>
            </a:pPr>
            <a:r>
              <a:rPr lang="en-US" sz="1050" dirty="0">
                <a:solidFill>
                  <a:srgbClr val="9E8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[The strategic objective: own this channel in your niche]</a:t>
            </a:r>
            <a:endParaRPr lang="en-US" sz="1050" dirty="0"/>
          </a:p>
          <a:p>
            <a:pPr marL="127000" indent="-127000">
              <a:spcAft>
                <a:spcPts val="600"/>
              </a:spcAft>
              <a:buSzPct val="100000"/>
              <a:buChar char="▪"/>
            </a:pPr>
            <a:r>
              <a:rPr lang="en-US" sz="1050" dirty="0">
                <a:solidFill>
                  <a:srgbClr val="9E8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[How it expanded over time]</a:t>
            </a:r>
            <a:endParaRPr lang="en-US" sz="1050" dirty="0"/>
          </a:p>
          <a:p>
            <a:pPr marL="127000" indent="-127000">
              <a:spcAft>
                <a:spcPts val="600"/>
              </a:spcAft>
              <a:buSzPct val="100000"/>
              <a:buChar char="▪"/>
            </a:pPr>
            <a:r>
              <a:rPr lang="en-US" sz="1050" dirty="0">
                <a:solidFill>
                  <a:srgbClr val="9E8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[Where it goes next: new audiences, new geos]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498080" y="1463040"/>
            <a:ext cx="1920240" cy="1325880"/>
          </a:xfrm>
          <a:prstGeom prst="rect">
            <a:avLst/>
          </a:prstGeom>
          <a:solidFill>
            <a:srgbClr val="2A2C2E"/>
          </a:solidFill>
          <a:ln w="12700">
            <a:solidFill>
              <a:srgbClr val="2A2C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0" y="16459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2A8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[N+]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589520" y="21488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7E6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partners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9601200" y="1463040"/>
            <a:ext cx="19202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2A2C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0" y="16459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E83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[XX%]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692640" y="21488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A2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total spend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498080" y="2971800"/>
            <a:ext cx="19202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2A2C2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0" y="31546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E83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[XXk]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589520" y="36576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A2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trials / qtr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9601200" y="2971800"/>
            <a:ext cx="19202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2A2C2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1200" y="31546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E83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[XM+]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692640" y="36576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A2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reach driven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48640" y="4709160"/>
            <a:ext cx="110642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2A2C2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48463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2A2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KPIs TRACKED PER CAMPAIGN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31520" y="521208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E83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[base paid]   [revenue generated]   [commission]   [CPM]   [views]   [RPM]   [sign-ups]   [ROI]</a:t>
            </a:r>
            <a:endParaRPr lang="en-US" sz="1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8E8F9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· CUSTOMERS &amp; MARKETING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0058400" y="292608"/>
            <a:ext cx="1581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83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[ 6.4 ]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A2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 Customer Profiles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361188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2A2C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74520" y="1691640"/>
            <a:ext cx="960120" cy="960120"/>
          </a:xfrm>
          <a:prstGeom prst="ellipse">
            <a:avLst/>
          </a:prstGeom>
          <a:solidFill>
            <a:srgbClr val="E7E6E3"/>
          </a:solidFill>
          <a:ln w="9525">
            <a:solidFill>
              <a:srgbClr val="8E8F9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78892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E83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[ARCHETYPE 1: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9E83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beginner]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3520440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9E8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9E8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[What they use you for]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22960" y="3931920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9E8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9E8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[The outcome they get]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822960" y="4343400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9E8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9E8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[The scale they reached]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31520" y="4846320"/>
            <a:ext cx="3246120" cy="457200"/>
          </a:xfrm>
          <a:prstGeom prst="rect">
            <a:avLst/>
          </a:prstGeom>
          <a:solidFill>
            <a:srgbClr val="E7E6E3"/>
          </a:solidFill>
          <a:ln w="12700">
            <a:solidFill>
              <a:srgbClr val="2A2C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484632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A2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[N M addressable like them]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370832" y="1463040"/>
            <a:ext cx="361188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2A2C2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696712" y="1691640"/>
            <a:ext cx="960120" cy="960120"/>
          </a:xfrm>
          <a:prstGeom prst="ellipse">
            <a:avLst/>
          </a:prstGeom>
          <a:solidFill>
            <a:srgbClr val="E7E6E3"/>
          </a:solidFill>
          <a:ln w="9525">
            <a:solidFill>
              <a:srgbClr val="8E8F9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53712" y="278892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E83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[ARCHETYPE 2: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9E83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full-time pro]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645152" y="3520440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9E8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9E8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[What they use you for]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645152" y="3931920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9E8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9E8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[The outcome they get]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645152" y="4343400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9E8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9E8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[The scale they reached]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53712" y="4846320"/>
            <a:ext cx="3246120" cy="457200"/>
          </a:xfrm>
          <a:prstGeom prst="rect">
            <a:avLst/>
          </a:prstGeom>
          <a:solidFill>
            <a:srgbClr val="E7E6E3"/>
          </a:solidFill>
          <a:ln w="12700">
            <a:solidFill>
              <a:srgbClr val="2A2C2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53712" y="484632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A2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[N M addressable like them]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8193024" y="1463040"/>
            <a:ext cx="361188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2A2C2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518904" y="1691640"/>
            <a:ext cx="960120" cy="960120"/>
          </a:xfrm>
          <a:prstGeom prst="ellipse">
            <a:avLst/>
          </a:prstGeom>
          <a:solidFill>
            <a:srgbClr val="E7E6E3"/>
          </a:solidFill>
          <a:ln w="9525">
            <a:solidFill>
              <a:srgbClr val="8E8F9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375904" y="278892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E83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[ARCHETYPE 3: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9E83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adjacent segment]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467344" y="3520440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9E8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9E8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[What they use you for]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8467344" y="3931920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9E8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9E8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[The outcome they get]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8467344" y="4343400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9E8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9E8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[The scale they reached]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8375904" y="4846320"/>
            <a:ext cx="3246120" cy="457200"/>
          </a:xfrm>
          <a:prstGeom prst="rect">
            <a:avLst/>
          </a:prstGeom>
          <a:solidFill>
            <a:srgbClr val="E7E6E3"/>
          </a:solidFill>
          <a:ln w="12700">
            <a:solidFill>
              <a:srgbClr val="2A2C2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375904" y="484632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A2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[N M addressable like them]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48640" y="58064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E8F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Anonymized or permissioned only - never leak real customer data.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8E8F9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· CUSTOMERS &amp; MARKETING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0058400" y="292608"/>
            <a:ext cx="1581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83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[ 6.5 ]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A2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Unit Economics: The Deal-Makers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54406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2A2C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59105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2A2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CAC PAYBACK BY MONTHLY COHORT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975665" y="2075688"/>
            <a:ext cx="261518" cy="1234440"/>
          </a:xfrm>
          <a:prstGeom prst="rect">
            <a:avLst/>
          </a:prstGeom>
          <a:solidFill>
            <a:srgbClr val="2A2C2E"/>
          </a:solidFill>
          <a:ln/>
        </p:spPr>
      </p:sp>
      <p:sp>
        <p:nvSpPr>
          <p:cNvPr id="8" name="Text 6"/>
          <p:cNvSpPr/>
          <p:nvPr/>
        </p:nvSpPr>
        <p:spPr>
          <a:xfrm>
            <a:off x="871057" y="1837944"/>
            <a:ext cx="47073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71057" y="3328416"/>
            <a:ext cx="47073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451153" y="2270600"/>
            <a:ext cx="261518" cy="1039528"/>
          </a:xfrm>
          <a:prstGeom prst="rect">
            <a:avLst/>
          </a:prstGeom>
          <a:solidFill>
            <a:srgbClr val="2A2C2E"/>
          </a:solidFill>
          <a:ln/>
        </p:spPr>
      </p:sp>
      <p:sp>
        <p:nvSpPr>
          <p:cNvPr id="11" name="Text 9"/>
          <p:cNvSpPr/>
          <p:nvPr/>
        </p:nvSpPr>
        <p:spPr>
          <a:xfrm>
            <a:off x="1346545" y="2032856"/>
            <a:ext cx="47073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346545" y="3328416"/>
            <a:ext cx="47073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926641" y="2595452"/>
            <a:ext cx="261518" cy="714676"/>
          </a:xfrm>
          <a:prstGeom prst="rect">
            <a:avLst/>
          </a:prstGeom>
          <a:solidFill>
            <a:srgbClr val="2A2C2E"/>
          </a:solidFill>
          <a:ln/>
        </p:spPr>
      </p:sp>
      <p:sp>
        <p:nvSpPr>
          <p:cNvPr id="14" name="Text 12"/>
          <p:cNvSpPr/>
          <p:nvPr/>
        </p:nvSpPr>
        <p:spPr>
          <a:xfrm>
            <a:off x="1822033" y="2357708"/>
            <a:ext cx="47073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822033" y="3328416"/>
            <a:ext cx="47073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402129" y="2725393"/>
            <a:ext cx="261518" cy="584735"/>
          </a:xfrm>
          <a:prstGeom prst="rect">
            <a:avLst/>
          </a:prstGeom>
          <a:solidFill>
            <a:srgbClr val="2A2C2E"/>
          </a:solidFill>
          <a:ln/>
        </p:spPr>
      </p:sp>
      <p:sp>
        <p:nvSpPr>
          <p:cNvPr id="17" name="Text 15"/>
          <p:cNvSpPr/>
          <p:nvPr/>
        </p:nvSpPr>
        <p:spPr>
          <a:xfrm>
            <a:off x="2297521" y="2487649"/>
            <a:ext cx="47073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2297521" y="3328416"/>
            <a:ext cx="47073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877617" y="2764376"/>
            <a:ext cx="261518" cy="545752"/>
          </a:xfrm>
          <a:prstGeom prst="rect">
            <a:avLst/>
          </a:prstGeom>
          <a:solidFill>
            <a:srgbClr val="2A2C2E"/>
          </a:solidFill>
          <a:ln/>
        </p:spPr>
      </p:sp>
      <p:sp>
        <p:nvSpPr>
          <p:cNvPr id="20" name="Text 18"/>
          <p:cNvSpPr/>
          <p:nvPr/>
        </p:nvSpPr>
        <p:spPr>
          <a:xfrm>
            <a:off x="2773009" y="2526632"/>
            <a:ext cx="47073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2773009" y="3328416"/>
            <a:ext cx="47073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353105" y="2790364"/>
            <a:ext cx="261518" cy="519764"/>
          </a:xfrm>
          <a:prstGeom prst="rect">
            <a:avLst/>
          </a:prstGeom>
          <a:solidFill>
            <a:srgbClr val="2A2C2E"/>
          </a:solidFill>
          <a:ln/>
        </p:spPr>
      </p:sp>
      <p:sp>
        <p:nvSpPr>
          <p:cNvPr id="23" name="Text 21"/>
          <p:cNvSpPr/>
          <p:nvPr/>
        </p:nvSpPr>
        <p:spPr>
          <a:xfrm>
            <a:off x="3248497" y="2552620"/>
            <a:ext cx="47073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248497" y="3328416"/>
            <a:ext cx="47073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828593" y="2816352"/>
            <a:ext cx="261518" cy="493776"/>
          </a:xfrm>
          <a:prstGeom prst="rect">
            <a:avLst/>
          </a:prstGeom>
          <a:solidFill>
            <a:srgbClr val="2A2C2E"/>
          </a:solidFill>
          <a:ln/>
        </p:spPr>
      </p:sp>
      <p:sp>
        <p:nvSpPr>
          <p:cNvPr id="26" name="Text 24"/>
          <p:cNvSpPr/>
          <p:nvPr/>
        </p:nvSpPr>
        <p:spPr>
          <a:xfrm>
            <a:off x="3723985" y="2578608"/>
            <a:ext cx="47073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723985" y="3328416"/>
            <a:ext cx="47073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304081" y="2842340"/>
            <a:ext cx="261518" cy="467788"/>
          </a:xfrm>
          <a:prstGeom prst="rect">
            <a:avLst/>
          </a:prstGeom>
          <a:solidFill>
            <a:srgbClr val="2A2C2E"/>
          </a:solidFill>
          <a:ln/>
        </p:spPr>
      </p:sp>
      <p:sp>
        <p:nvSpPr>
          <p:cNvPr id="29" name="Text 27"/>
          <p:cNvSpPr/>
          <p:nvPr/>
        </p:nvSpPr>
        <p:spPr>
          <a:xfrm>
            <a:off x="4199473" y="2604596"/>
            <a:ext cx="47073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199473" y="3328416"/>
            <a:ext cx="47073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779569" y="2855334"/>
            <a:ext cx="261518" cy="454794"/>
          </a:xfrm>
          <a:prstGeom prst="rect">
            <a:avLst/>
          </a:prstGeom>
          <a:solidFill>
            <a:srgbClr val="2A2C2E"/>
          </a:solidFill>
          <a:ln/>
        </p:spPr>
      </p:sp>
      <p:sp>
        <p:nvSpPr>
          <p:cNvPr id="32" name="Text 30"/>
          <p:cNvSpPr/>
          <p:nvPr/>
        </p:nvSpPr>
        <p:spPr>
          <a:xfrm>
            <a:off x="4674961" y="2617590"/>
            <a:ext cx="47073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674961" y="3328416"/>
            <a:ext cx="47073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5255057" y="2855334"/>
            <a:ext cx="261518" cy="454794"/>
          </a:xfrm>
          <a:prstGeom prst="rect">
            <a:avLst/>
          </a:prstGeom>
          <a:solidFill>
            <a:srgbClr val="2A2C2E"/>
          </a:solidFill>
          <a:ln/>
        </p:spPr>
      </p:sp>
      <p:sp>
        <p:nvSpPr>
          <p:cNvPr id="35" name="Text 33"/>
          <p:cNvSpPr/>
          <p:nvPr/>
        </p:nvSpPr>
        <p:spPr>
          <a:xfrm>
            <a:off x="5150449" y="2617590"/>
            <a:ext cx="47073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5150449" y="3328416"/>
            <a:ext cx="47073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3108960" y="159105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E83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[median: X.X months]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172200" y="1463040"/>
            <a:ext cx="54406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2A2C2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55080" y="159105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2A2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REALIZED LTV / CAC BY COHORT AGE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599225" y="3063240"/>
            <a:ext cx="261518" cy="246888"/>
          </a:xfrm>
          <a:prstGeom prst="rect">
            <a:avLst/>
          </a:prstGeom>
          <a:solidFill>
            <a:srgbClr val="C2A878"/>
          </a:solidFill>
          <a:ln/>
        </p:spPr>
      </p:sp>
      <p:sp>
        <p:nvSpPr>
          <p:cNvPr id="41" name="Text 39"/>
          <p:cNvSpPr/>
          <p:nvPr/>
        </p:nvSpPr>
        <p:spPr>
          <a:xfrm>
            <a:off x="6494617" y="2825496"/>
            <a:ext cx="47073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6494617" y="3328416"/>
            <a:ext cx="47073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7074713" y="2939796"/>
            <a:ext cx="261518" cy="370332"/>
          </a:xfrm>
          <a:prstGeom prst="rect">
            <a:avLst/>
          </a:prstGeom>
          <a:solidFill>
            <a:srgbClr val="C2A878"/>
          </a:solidFill>
          <a:ln/>
        </p:spPr>
      </p:sp>
      <p:sp>
        <p:nvSpPr>
          <p:cNvPr id="44" name="Text 42"/>
          <p:cNvSpPr/>
          <p:nvPr/>
        </p:nvSpPr>
        <p:spPr>
          <a:xfrm>
            <a:off x="6970105" y="2702052"/>
            <a:ext cx="47073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970105" y="3328416"/>
            <a:ext cx="47073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7550201" y="2791663"/>
            <a:ext cx="261518" cy="518465"/>
          </a:xfrm>
          <a:prstGeom prst="rect">
            <a:avLst/>
          </a:prstGeom>
          <a:solidFill>
            <a:srgbClr val="C2A878"/>
          </a:solidFill>
          <a:ln/>
        </p:spPr>
      </p:sp>
      <p:sp>
        <p:nvSpPr>
          <p:cNvPr id="47" name="Text 45"/>
          <p:cNvSpPr/>
          <p:nvPr/>
        </p:nvSpPr>
        <p:spPr>
          <a:xfrm>
            <a:off x="7445593" y="2553919"/>
            <a:ext cx="47073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7445593" y="3328416"/>
            <a:ext cx="47073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8025689" y="2668219"/>
            <a:ext cx="261518" cy="641909"/>
          </a:xfrm>
          <a:prstGeom prst="rect">
            <a:avLst/>
          </a:prstGeom>
          <a:solidFill>
            <a:srgbClr val="C2A878"/>
          </a:solidFill>
          <a:ln/>
        </p:spPr>
      </p:sp>
      <p:sp>
        <p:nvSpPr>
          <p:cNvPr id="50" name="Text 48"/>
          <p:cNvSpPr/>
          <p:nvPr/>
        </p:nvSpPr>
        <p:spPr>
          <a:xfrm>
            <a:off x="7921081" y="2430475"/>
            <a:ext cx="47073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7921081" y="3328416"/>
            <a:ext cx="47073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8501177" y="2544775"/>
            <a:ext cx="261518" cy="765353"/>
          </a:xfrm>
          <a:prstGeom prst="rect">
            <a:avLst/>
          </a:prstGeom>
          <a:solidFill>
            <a:srgbClr val="C2A878"/>
          </a:solidFill>
          <a:ln/>
        </p:spPr>
      </p:sp>
      <p:sp>
        <p:nvSpPr>
          <p:cNvPr id="53" name="Text 51"/>
          <p:cNvSpPr/>
          <p:nvPr/>
        </p:nvSpPr>
        <p:spPr>
          <a:xfrm>
            <a:off x="8396569" y="2307031"/>
            <a:ext cx="47073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8396569" y="3328416"/>
            <a:ext cx="47073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8976665" y="2421331"/>
            <a:ext cx="261518" cy="888797"/>
          </a:xfrm>
          <a:prstGeom prst="rect">
            <a:avLst/>
          </a:prstGeom>
          <a:solidFill>
            <a:srgbClr val="C2A878"/>
          </a:solidFill>
          <a:ln/>
        </p:spPr>
      </p:sp>
      <p:sp>
        <p:nvSpPr>
          <p:cNvPr id="56" name="Text 54"/>
          <p:cNvSpPr/>
          <p:nvPr/>
        </p:nvSpPr>
        <p:spPr>
          <a:xfrm>
            <a:off x="8872057" y="2183587"/>
            <a:ext cx="47073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8872057" y="3328416"/>
            <a:ext cx="47073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9452153" y="2322576"/>
            <a:ext cx="261518" cy="987552"/>
          </a:xfrm>
          <a:prstGeom prst="rect">
            <a:avLst/>
          </a:prstGeom>
          <a:solidFill>
            <a:srgbClr val="C2A878"/>
          </a:solidFill>
          <a:ln/>
        </p:spPr>
      </p:sp>
      <p:sp>
        <p:nvSpPr>
          <p:cNvPr id="59" name="Text 57"/>
          <p:cNvSpPr/>
          <p:nvPr/>
        </p:nvSpPr>
        <p:spPr>
          <a:xfrm>
            <a:off x="9347545" y="2084832"/>
            <a:ext cx="47073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9347545" y="3328416"/>
            <a:ext cx="47073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9927641" y="2223821"/>
            <a:ext cx="261518" cy="1086307"/>
          </a:xfrm>
          <a:prstGeom prst="rect">
            <a:avLst/>
          </a:prstGeom>
          <a:solidFill>
            <a:srgbClr val="C2A878"/>
          </a:solidFill>
          <a:ln/>
        </p:spPr>
      </p:sp>
      <p:sp>
        <p:nvSpPr>
          <p:cNvPr id="62" name="Text 60"/>
          <p:cNvSpPr/>
          <p:nvPr/>
        </p:nvSpPr>
        <p:spPr>
          <a:xfrm>
            <a:off x="9823033" y="1986077"/>
            <a:ext cx="47073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9823033" y="3328416"/>
            <a:ext cx="47073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10403129" y="2149754"/>
            <a:ext cx="261518" cy="1160374"/>
          </a:xfrm>
          <a:prstGeom prst="rect">
            <a:avLst/>
          </a:prstGeom>
          <a:solidFill>
            <a:srgbClr val="C2A878"/>
          </a:solidFill>
          <a:ln/>
        </p:spPr>
      </p:sp>
      <p:sp>
        <p:nvSpPr>
          <p:cNvPr id="65" name="Text 63"/>
          <p:cNvSpPr/>
          <p:nvPr/>
        </p:nvSpPr>
        <p:spPr>
          <a:xfrm>
            <a:off x="10298521" y="1912010"/>
            <a:ext cx="47073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10298521" y="3328416"/>
            <a:ext cx="47073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10878617" y="2075688"/>
            <a:ext cx="261518" cy="1234440"/>
          </a:xfrm>
          <a:prstGeom prst="rect">
            <a:avLst/>
          </a:prstGeom>
          <a:solidFill>
            <a:srgbClr val="C2A878"/>
          </a:solidFill>
          <a:ln/>
        </p:spPr>
      </p:sp>
      <p:sp>
        <p:nvSpPr>
          <p:cNvPr id="68" name="Text 66"/>
          <p:cNvSpPr/>
          <p:nvPr/>
        </p:nvSpPr>
        <p:spPr>
          <a:xfrm>
            <a:off x="10774009" y="1837944"/>
            <a:ext cx="47073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850" dirty="0"/>
          </a:p>
        </p:txBody>
      </p:sp>
      <p:sp>
        <p:nvSpPr>
          <p:cNvPr id="69" name="Text 67"/>
          <p:cNvSpPr/>
          <p:nvPr/>
        </p:nvSpPr>
        <p:spPr>
          <a:xfrm>
            <a:off x="10774009" y="3328416"/>
            <a:ext cx="47073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850" dirty="0"/>
          </a:p>
        </p:txBody>
      </p:sp>
      <p:sp>
        <p:nvSpPr>
          <p:cNvPr id="70" name="Text 68"/>
          <p:cNvSpPr/>
          <p:nvPr/>
        </p:nvSpPr>
        <p:spPr>
          <a:xfrm>
            <a:off x="8778240" y="159105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E83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[median: X.Xx]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548640" y="3977640"/>
            <a:ext cx="54406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2A2C2E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731520" y="410565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2A2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REVENUE RETENTION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1046988" y="4590288"/>
            <a:ext cx="435864" cy="1234440"/>
          </a:xfrm>
          <a:prstGeom prst="rect">
            <a:avLst/>
          </a:prstGeom>
          <a:solidFill>
            <a:srgbClr val="8E8F92"/>
          </a:solidFill>
          <a:ln/>
        </p:spPr>
      </p:sp>
      <p:sp>
        <p:nvSpPr>
          <p:cNvPr id="74" name="Text 72"/>
          <p:cNvSpPr/>
          <p:nvPr/>
        </p:nvSpPr>
        <p:spPr>
          <a:xfrm>
            <a:off x="872642" y="4352544"/>
            <a:ext cx="78455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850" dirty="0"/>
          </a:p>
        </p:txBody>
      </p:sp>
      <p:sp>
        <p:nvSpPr>
          <p:cNvPr id="75" name="Text 73"/>
          <p:cNvSpPr/>
          <p:nvPr/>
        </p:nvSpPr>
        <p:spPr>
          <a:xfrm>
            <a:off x="872642" y="5843016"/>
            <a:ext cx="78455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1839468" y="4652010"/>
            <a:ext cx="435864" cy="1172718"/>
          </a:xfrm>
          <a:prstGeom prst="rect">
            <a:avLst/>
          </a:prstGeom>
          <a:solidFill>
            <a:srgbClr val="8E8F92"/>
          </a:solidFill>
          <a:ln/>
        </p:spPr>
      </p:sp>
      <p:sp>
        <p:nvSpPr>
          <p:cNvPr id="77" name="Text 75"/>
          <p:cNvSpPr/>
          <p:nvPr/>
        </p:nvSpPr>
        <p:spPr>
          <a:xfrm>
            <a:off x="1665122" y="4414266"/>
            <a:ext cx="78455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850" dirty="0"/>
          </a:p>
        </p:txBody>
      </p:sp>
      <p:sp>
        <p:nvSpPr>
          <p:cNvPr id="78" name="Text 76"/>
          <p:cNvSpPr/>
          <p:nvPr/>
        </p:nvSpPr>
        <p:spPr>
          <a:xfrm>
            <a:off x="1665122" y="5843016"/>
            <a:ext cx="78455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850" dirty="0"/>
          </a:p>
        </p:txBody>
      </p:sp>
      <p:sp>
        <p:nvSpPr>
          <p:cNvPr id="79" name="Shape 77"/>
          <p:cNvSpPr/>
          <p:nvPr/>
        </p:nvSpPr>
        <p:spPr>
          <a:xfrm>
            <a:off x="2631948" y="4689043"/>
            <a:ext cx="435864" cy="1135685"/>
          </a:xfrm>
          <a:prstGeom prst="rect">
            <a:avLst/>
          </a:prstGeom>
          <a:solidFill>
            <a:srgbClr val="8E8F92"/>
          </a:solidFill>
          <a:ln/>
        </p:spPr>
      </p:sp>
      <p:sp>
        <p:nvSpPr>
          <p:cNvPr id="80" name="Text 78"/>
          <p:cNvSpPr/>
          <p:nvPr/>
        </p:nvSpPr>
        <p:spPr>
          <a:xfrm>
            <a:off x="2457602" y="4451299"/>
            <a:ext cx="78455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850" dirty="0"/>
          </a:p>
        </p:txBody>
      </p:sp>
      <p:sp>
        <p:nvSpPr>
          <p:cNvPr id="81" name="Text 79"/>
          <p:cNvSpPr/>
          <p:nvPr/>
        </p:nvSpPr>
        <p:spPr>
          <a:xfrm>
            <a:off x="2457602" y="5843016"/>
            <a:ext cx="78455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850" dirty="0"/>
          </a:p>
        </p:txBody>
      </p:sp>
      <p:sp>
        <p:nvSpPr>
          <p:cNvPr id="82" name="Shape 80"/>
          <p:cNvSpPr/>
          <p:nvPr/>
        </p:nvSpPr>
        <p:spPr>
          <a:xfrm>
            <a:off x="3424428" y="4713732"/>
            <a:ext cx="435864" cy="1110996"/>
          </a:xfrm>
          <a:prstGeom prst="rect">
            <a:avLst/>
          </a:prstGeom>
          <a:solidFill>
            <a:srgbClr val="8E8F92"/>
          </a:solidFill>
          <a:ln/>
        </p:spPr>
      </p:sp>
      <p:sp>
        <p:nvSpPr>
          <p:cNvPr id="83" name="Text 81"/>
          <p:cNvSpPr/>
          <p:nvPr/>
        </p:nvSpPr>
        <p:spPr>
          <a:xfrm>
            <a:off x="3250082" y="4475988"/>
            <a:ext cx="78455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850" dirty="0"/>
          </a:p>
        </p:txBody>
      </p:sp>
      <p:sp>
        <p:nvSpPr>
          <p:cNvPr id="84" name="Text 82"/>
          <p:cNvSpPr/>
          <p:nvPr/>
        </p:nvSpPr>
        <p:spPr>
          <a:xfrm>
            <a:off x="3250082" y="5843016"/>
            <a:ext cx="78455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850" dirty="0"/>
          </a:p>
        </p:txBody>
      </p:sp>
      <p:sp>
        <p:nvSpPr>
          <p:cNvPr id="85" name="Shape 83"/>
          <p:cNvSpPr/>
          <p:nvPr/>
        </p:nvSpPr>
        <p:spPr>
          <a:xfrm>
            <a:off x="4216908" y="4726076"/>
            <a:ext cx="435864" cy="1098652"/>
          </a:xfrm>
          <a:prstGeom prst="rect">
            <a:avLst/>
          </a:prstGeom>
          <a:solidFill>
            <a:srgbClr val="8E8F92"/>
          </a:solidFill>
          <a:ln/>
        </p:spPr>
      </p:sp>
      <p:sp>
        <p:nvSpPr>
          <p:cNvPr id="86" name="Text 84"/>
          <p:cNvSpPr/>
          <p:nvPr/>
        </p:nvSpPr>
        <p:spPr>
          <a:xfrm>
            <a:off x="4042562" y="4488332"/>
            <a:ext cx="78455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850" dirty="0"/>
          </a:p>
        </p:txBody>
      </p:sp>
      <p:sp>
        <p:nvSpPr>
          <p:cNvPr id="87" name="Text 85"/>
          <p:cNvSpPr/>
          <p:nvPr/>
        </p:nvSpPr>
        <p:spPr>
          <a:xfrm>
            <a:off x="4042562" y="5843016"/>
            <a:ext cx="78455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850" dirty="0"/>
          </a:p>
        </p:txBody>
      </p:sp>
      <p:sp>
        <p:nvSpPr>
          <p:cNvPr id="88" name="Shape 86"/>
          <p:cNvSpPr/>
          <p:nvPr/>
        </p:nvSpPr>
        <p:spPr>
          <a:xfrm>
            <a:off x="5009388" y="4738421"/>
            <a:ext cx="435864" cy="1086307"/>
          </a:xfrm>
          <a:prstGeom prst="rect">
            <a:avLst/>
          </a:prstGeom>
          <a:solidFill>
            <a:srgbClr val="8E8F92"/>
          </a:solidFill>
          <a:ln/>
        </p:spPr>
      </p:sp>
      <p:sp>
        <p:nvSpPr>
          <p:cNvPr id="89" name="Text 87"/>
          <p:cNvSpPr/>
          <p:nvPr/>
        </p:nvSpPr>
        <p:spPr>
          <a:xfrm>
            <a:off x="4835042" y="4500677"/>
            <a:ext cx="78455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850" dirty="0"/>
          </a:p>
        </p:txBody>
      </p:sp>
      <p:sp>
        <p:nvSpPr>
          <p:cNvPr id="90" name="Text 88"/>
          <p:cNvSpPr/>
          <p:nvPr/>
        </p:nvSpPr>
        <p:spPr>
          <a:xfrm>
            <a:off x="4835042" y="5843016"/>
            <a:ext cx="78455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850" dirty="0"/>
          </a:p>
        </p:txBody>
      </p:sp>
      <p:sp>
        <p:nvSpPr>
          <p:cNvPr id="91" name="Text 89"/>
          <p:cNvSpPr/>
          <p:nvPr/>
        </p:nvSpPr>
        <p:spPr>
          <a:xfrm>
            <a:off x="3108960" y="410565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E83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[XX%+ retained]</a:t>
            </a:r>
            <a:endParaRPr lang="en-US" sz="900" dirty="0"/>
          </a:p>
        </p:txBody>
      </p:sp>
      <p:sp>
        <p:nvSpPr>
          <p:cNvPr id="92" name="Shape 90"/>
          <p:cNvSpPr/>
          <p:nvPr/>
        </p:nvSpPr>
        <p:spPr>
          <a:xfrm>
            <a:off x="6172200" y="3977640"/>
            <a:ext cx="5440680" cy="2286000"/>
          </a:xfrm>
          <a:prstGeom prst="rect">
            <a:avLst/>
          </a:prstGeom>
          <a:solidFill>
            <a:srgbClr val="2A2C2E"/>
          </a:solidFill>
          <a:ln w="12700">
            <a:solidFill>
              <a:srgbClr val="2A2C2E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6355080" y="416052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C2A8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COMMENTARY: HOW WE CALCULATE</a:t>
            </a:r>
            <a:endParaRPr lang="en-US" sz="950" dirty="0"/>
          </a:p>
        </p:txBody>
      </p:sp>
      <p:sp>
        <p:nvSpPr>
          <p:cNvPr id="94" name="Text 92"/>
          <p:cNvSpPr/>
          <p:nvPr/>
        </p:nvSpPr>
        <p:spPr>
          <a:xfrm>
            <a:off x="6355080" y="4572000"/>
            <a:ext cx="5029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7E6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[Plain-language note on every chart: what counts as CAC, which months, which cohorts. Buyers distrust charts with hidden methodology.]</a:t>
            </a:r>
            <a:endParaRPr lang="en-US" sz="10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822960"/>
            <a:ext cx="457200" cy="457200"/>
          </a:xfrm>
          <a:prstGeom prst="rect">
            <a:avLst/>
          </a:prstGeom>
          <a:ln w="19050">
            <a:solidFill>
              <a:srgbClr val="C2A87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22860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2A8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[ 07 ]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22960" y="29718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Future Growth Drivers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41248" y="406908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7E6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section is what the buyer's money buys. Write it as their plan, not yours.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778240" y="63093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E8F9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EXIT DECK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8E8F9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· FUTURE GROWTH DRIVERS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0058400" y="292608"/>
            <a:ext cx="1581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83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[ 7.1 ]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A2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Six Levers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361188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2A2C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60020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E83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[CONTINUE PRODUCT DEVELOPMENT]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731520" y="2194560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9E8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9E8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[Named initiative]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731520" y="2606040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9E8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9E8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[Named initiative]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31520" y="3017520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9E8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9E8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[Named initiative]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70832" y="1463040"/>
            <a:ext cx="361188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2A2C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53712" y="160020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E83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[DEEPEN EXISTING CHANNELS]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553712" y="2194560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9E8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9E8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[Named initiative]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553712" y="2606040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9E8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9E8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[Named initiative]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553712" y="3017520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9E8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9E8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[Named initiative]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8193024" y="1463040"/>
            <a:ext cx="361188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2A2C2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75904" y="160020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E83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[EXPAND TO NEW SEGMENT]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8375904" y="2194560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9E8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9E8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[Named initiative]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8375904" y="2606040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9E8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9E8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[Named initiative]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8375904" y="3017520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9E8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9E8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[Named initiative]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48640" y="3840480"/>
            <a:ext cx="361188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2A2C2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97764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E83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[EXPAND MARKETING]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31520" y="4572000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9E8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9E8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[Named initiative]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731520" y="4983480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9E8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9E8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[Named initiative]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31520" y="5394960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9E8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9E8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[Named initiative]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370832" y="3840480"/>
            <a:ext cx="361188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2A2C2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53712" y="397764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E83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[IMPROVE CONVERSION + RETENTION]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553712" y="4572000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9E8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9E8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[Named initiative]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553712" y="4983480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9E8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9E8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[Named initiative]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553712" y="5394960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9E8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9E8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[Named initiative]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8193024" y="3840480"/>
            <a:ext cx="361188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2A2C2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375904" y="397764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E83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[ADJACENT OFFERINGS]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8375904" y="4572000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9E8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9E8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[Named initiative]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8375904" y="4983480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9E8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9E8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[Named initiative]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8375904" y="5394960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9E8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9E8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[Named initiative]</a:t>
            </a:r>
            <a:endParaRPr lang="en-US" sz="9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8E8F9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· FUTURE GROWTH DRIVERS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0058400" y="292608"/>
            <a:ext cx="1581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83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[ 7.2 ]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A2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[Lever Name], Expanded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11064240" cy="731520"/>
          </a:xfrm>
          <a:prstGeom prst="rect">
            <a:avLst/>
          </a:prstGeom>
          <a:solidFill>
            <a:srgbClr val="2A2C2E"/>
          </a:solidFill>
          <a:ln w="12700">
            <a:solidFill>
              <a:srgbClr val="2A2C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46304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2A8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[The lever restated as an outcome: more of WHAT, for WHOM, worth HOW MUCH]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468880"/>
            <a:ext cx="544068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2A2C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6060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2A2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ALREADY IN MOTION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31520" y="2971800"/>
            <a:ext cx="50292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800"/>
              </a:spcAft>
              <a:buSzPct val="100000"/>
              <a:buChar char="▪"/>
            </a:pPr>
            <a:r>
              <a:rPr lang="en-US" sz="1050" dirty="0">
                <a:solidFill>
                  <a:srgbClr val="9E8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[Initiative + early result]</a:t>
            </a:r>
            <a:endParaRPr lang="en-US" sz="1050" dirty="0"/>
          </a:p>
          <a:p>
            <a:pPr marL="127000" indent="-127000">
              <a:spcAft>
                <a:spcPts val="800"/>
              </a:spcAft>
              <a:buSzPct val="100000"/>
              <a:buChar char="▪"/>
            </a:pPr>
            <a:r>
              <a:rPr lang="en-US" sz="1050" dirty="0">
                <a:solidFill>
                  <a:srgbClr val="9E8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[Initiative + early result]</a:t>
            </a:r>
            <a:endParaRPr lang="en-US" sz="1050" dirty="0"/>
          </a:p>
          <a:p>
            <a:pPr marL="127000" indent="-127000">
              <a:spcAft>
                <a:spcPts val="800"/>
              </a:spcAft>
              <a:buSzPct val="100000"/>
              <a:buChar char="▪"/>
            </a:pPr>
            <a:r>
              <a:rPr lang="en-US" sz="1050" dirty="0">
                <a:solidFill>
                  <a:srgbClr val="9E8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[Initiative + early result]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172200" y="2468880"/>
            <a:ext cx="5440680" cy="3108960"/>
          </a:xfrm>
          <a:prstGeom prst="rect">
            <a:avLst/>
          </a:prstGeom>
          <a:solidFill>
            <a:srgbClr val="FFFFFF"/>
          </a:solidFill>
          <a:ln w="19050">
            <a:solidFill>
              <a:srgbClr val="2A2C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55080" y="26060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9E83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NEEDS INVESTMENT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355080" y="2971800"/>
            <a:ext cx="50292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800"/>
              </a:spcAft>
              <a:buSzPct val="100000"/>
              <a:buChar char="▪"/>
            </a:pPr>
            <a:r>
              <a:rPr lang="en-US" sz="1050" dirty="0">
                <a:solidFill>
                  <a:srgbClr val="9E8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[Initiative + what it unlocks]</a:t>
            </a:r>
            <a:endParaRPr lang="en-US" sz="1050" dirty="0"/>
          </a:p>
          <a:p>
            <a:pPr marL="127000" indent="-127000">
              <a:spcAft>
                <a:spcPts val="800"/>
              </a:spcAft>
              <a:buSzPct val="100000"/>
              <a:buChar char="▪"/>
            </a:pPr>
            <a:r>
              <a:rPr lang="en-US" sz="1050" dirty="0">
                <a:solidFill>
                  <a:srgbClr val="9E8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[Initiative + what it unlocks]</a:t>
            </a:r>
            <a:endParaRPr lang="en-US" sz="1050" dirty="0"/>
          </a:p>
          <a:p>
            <a:pPr marL="127000" indent="-127000">
              <a:spcAft>
                <a:spcPts val="800"/>
              </a:spcAft>
              <a:buSzPct val="100000"/>
              <a:buChar char="▪"/>
            </a:pPr>
            <a:r>
              <a:rPr lang="en-US" sz="1050" dirty="0">
                <a:solidFill>
                  <a:srgbClr val="9E8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[Initiative + what it unlocks]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5806440"/>
            <a:ext cx="11064240" cy="640080"/>
          </a:xfrm>
          <a:prstGeom prst="rect">
            <a:avLst/>
          </a:prstGeom>
          <a:solidFill>
            <a:srgbClr val="E7E6E3"/>
          </a:solidFill>
          <a:ln w="12700">
            <a:solidFill>
              <a:srgbClr val="2A2C2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58064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2A2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lever must be something the buyer's resources accelerate. Duplicate this slide per lever.</a:t>
            </a:r>
            <a:endParaRPr lang="en-US" sz="11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822960"/>
            <a:ext cx="457200" cy="457200"/>
          </a:xfrm>
          <a:prstGeom prst="rect">
            <a:avLst/>
          </a:prstGeom>
          <a:ln w="19050">
            <a:solidFill>
              <a:srgbClr val="C2A87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22860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2A8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[ 08 ]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22960" y="29718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Operations &amp; Transaction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41248" y="406908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7E6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company behind the product. Boring is the goal - every detail here is one less diligence question.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778240" y="63093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E8F9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EXIT DECK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8E8F9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· OPERATIONS &amp; TRANSACTION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0058400" y="292608"/>
            <a:ext cx="1581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83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[ 8.1 ]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A2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Team &amp; Organization</a:t>
            </a:r>
            <a:endParaRPr lang="en-US" sz="2400" dirty="0"/>
          </a:p>
        </p:txBody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493776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164592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A2C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Department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A2C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Count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9E83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[Executives]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E83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[N]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9E83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[Technology]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E83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[N]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9E83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[Marketing]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E83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[N]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9E83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[Customer service]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E83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[N]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9E83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[Admin &amp; finance]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E83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[N]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A2C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9E83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[N]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852160" y="1508760"/>
            <a:ext cx="576072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2A2C2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035040" y="164592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2A2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THE ORG RUNS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6035040" y="1993392"/>
            <a:ext cx="5394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400"/>
              </a:spcAft>
              <a:buSzPct val="100000"/>
              <a:buChar char="▪"/>
            </a:pPr>
            <a:r>
              <a:rPr lang="en-US" sz="1000" dirty="0">
                <a:solidFill>
                  <a:srgbClr val="9E8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[HQ city + % remote, N countries]</a:t>
            </a:r>
            <a:endParaRPr lang="en-US" sz="1000" dirty="0"/>
          </a:p>
          <a:p>
            <a:pPr marL="127000" indent="-127000">
              <a:spcAft>
                <a:spcPts val="400"/>
              </a:spcAft>
              <a:buSzPct val="100000"/>
              <a:buChar char="▪"/>
            </a:pPr>
            <a:r>
              <a:rPr lang="en-US" sz="1000" dirty="0">
                <a:solidFill>
                  <a:srgbClr val="9E8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[How recruiting works]</a:t>
            </a:r>
            <a:endParaRPr lang="en-US" sz="1000" dirty="0"/>
          </a:p>
          <a:p>
            <a:pPr marL="127000" indent="-127000">
              <a:spcAft>
                <a:spcPts val="400"/>
              </a:spcAft>
              <a:buSzPct val="100000"/>
              <a:buChar char="▪"/>
            </a:pPr>
            <a:r>
              <a:rPr lang="en-US" sz="1000" dirty="0">
                <a:solidFill>
                  <a:srgbClr val="9E8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[The rhythm: how leadership operates]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852160" y="3703320"/>
            <a:ext cx="576072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2A2C2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035040" y="384048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2A2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ORG CHART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7772400" y="4160520"/>
            <a:ext cx="1920240" cy="502920"/>
          </a:xfrm>
          <a:prstGeom prst="rect">
            <a:avLst/>
          </a:prstGeom>
          <a:solidFill>
            <a:srgbClr val="2A2C2E"/>
          </a:solidFill>
          <a:ln w="12700">
            <a:solidFill>
              <a:srgbClr val="2A2C2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772400" y="41605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2A8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[FOUNDERS]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6126480" y="5029200"/>
            <a:ext cx="12344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2A2C2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126480" y="502920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A2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[FUNC]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6126480" y="5623560"/>
            <a:ext cx="1234440" cy="411480"/>
          </a:xfrm>
          <a:prstGeom prst="rect">
            <a:avLst/>
          </a:prstGeom>
          <a:solidFill>
            <a:srgbClr val="E7E6E3"/>
          </a:solidFill>
          <a:ln w="12700">
            <a:solidFill>
              <a:srgbClr val="2A2C2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126480" y="562356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E83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[N]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7498080" y="5029200"/>
            <a:ext cx="12344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2A2C2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498080" y="502920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A2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[FUNC]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7498080" y="5623560"/>
            <a:ext cx="1234440" cy="411480"/>
          </a:xfrm>
          <a:prstGeom prst="rect">
            <a:avLst/>
          </a:prstGeom>
          <a:solidFill>
            <a:srgbClr val="E7E6E3"/>
          </a:solidFill>
          <a:ln w="12700">
            <a:solidFill>
              <a:srgbClr val="2A2C2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498080" y="562356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E83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[N]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8869680" y="5029200"/>
            <a:ext cx="12344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2A2C2E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869680" y="502920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A2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[FUNC]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8869680" y="5623560"/>
            <a:ext cx="1234440" cy="411480"/>
          </a:xfrm>
          <a:prstGeom prst="rect">
            <a:avLst/>
          </a:prstGeom>
          <a:solidFill>
            <a:srgbClr val="E7E6E3"/>
          </a:solidFill>
          <a:ln w="12700">
            <a:solidFill>
              <a:srgbClr val="2A2C2E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869680" y="562356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E83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[N]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10241280" y="5029200"/>
            <a:ext cx="12344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2A2C2E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0241280" y="502920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A2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[FUNC]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10241280" y="5623560"/>
            <a:ext cx="1234440" cy="411480"/>
          </a:xfrm>
          <a:prstGeom prst="rect">
            <a:avLst/>
          </a:prstGeom>
          <a:solidFill>
            <a:srgbClr val="E7E6E3"/>
          </a:solidFill>
          <a:ln w="12700">
            <a:solidFill>
              <a:srgbClr val="2A2C2E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0241280" y="562356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E83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[N]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548640" y="59893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E8F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names below founder level.</a:t>
            </a:r>
            <a:endParaRPr lang="en-US" sz="10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8E8F9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· OPERATIONS &amp; TRANSACTION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0058400" y="292608"/>
            <a:ext cx="1581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83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[ 8.2 ]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A2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Systems &amp; Corporate Details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361188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2A2C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591056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A2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[ERP]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96596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8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[tool name]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370832" y="1463040"/>
            <a:ext cx="361188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2A2C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70832" y="1591056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A2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[HRIS]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370832" y="196596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8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[tool name]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193024" y="1463040"/>
            <a:ext cx="361188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2A2C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93024" y="1591056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A2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[INVOICING]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193024" y="196596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8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[tool name]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2697480"/>
            <a:ext cx="361188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2A2C2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825496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A2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[TIME / SHIFTS]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320040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8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[tool name]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370832" y="2697480"/>
            <a:ext cx="361188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2A2C2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70832" y="2825496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A2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[REPORTING]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370832" y="320040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8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[tool name]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193024" y="2697480"/>
            <a:ext cx="361188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2A2C2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93024" y="2825496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A2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[COMMS]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193024" y="320040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8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[tool name]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8640" y="4160520"/>
            <a:ext cx="11064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2A2C2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416052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2A2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LEGAL STRUCTURE   </a:t>
            </a:r>
            <a:pPr indent="0" marL="0">
              <a:buNone/>
            </a:pPr>
            <a:r>
              <a:rPr lang="en-US" sz="1100" dirty="0">
                <a:solidFill>
                  <a:srgbClr val="9E8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[Entity type, jurisdiction, tax status at the level your process stage requires]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48640" y="5349240"/>
            <a:ext cx="11064240" cy="914400"/>
          </a:xfrm>
          <a:prstGeom prst="rect">
            <a:avLst/>
          </a:prstGeom>
          <a:solidFill>
            <a:srgbClr val="2A2C2E"/>
          </a:solidFill>
          <a:ln w="12700">
            <a:solidFill>
              <a:srgbClr val="2A2C2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534924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C2A8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OWNERSHIP   </a:t>
            </a:r>
            <a:pPr indent="0" marL="0">
              <a:buNone/>
            </a:pPr>
            <a:r>
              <a:rPr lang="en-US" sz="1100" dirty="0">
                <a:solidFill>
                  <a:srgbClr val="E7E6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[Founder-owned, bootstrapped since inception - early conversations need no more than this]</a:t>
            </a:r>
            <a:endParaRPr lang="en-US" sz="9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822960"/>
            <a:ext cx="457200" cy="457200"/>
          </a:xfrm>
          <a:prstGeom prst="rect">
            <a:avLst/>
          </a:prstGeom>
          <a:ln w="19050">
            <a:solidFill>
              <a:srgbClr val="C2A87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22860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2A8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[ 09 ]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22960" y="29718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Financials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41248" y="406908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7E6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now every number was earned by an earlier slide. This is just the scoreboard.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778240" y="63093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E8F9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EXIT DECK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8E8F9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· FINANCIALS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0058400" y="292608"/>
            <a:ext cx="1581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83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[ 9.1 ]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A2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Financial Highlights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36118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2A2C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627632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E83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[$X.XM]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224028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[last year]A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370832" y="1463040"/>
            <a:ext cx="36118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2A2C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70832" y="1627632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E83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[$X.XM]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553712" y="224028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EBITDA [last year]A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193024" y="1463040"/>
            <a:ext cx="36118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2A2C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93024" y="1627632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E83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[XX%]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375904" y="224028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gross margin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3063240"/>
            <a:ext cx="36118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2A2C2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227832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E83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[$X.XM]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731520" y="384048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[this year]E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370832" y="3063240"/>
            <a:ext cx="36118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2A2C2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70832" y="3227832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E83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[$X.XM]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553712" y="384048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EBITDA [this year]E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193024" y="3063240"/>
            <a:ext cx="36118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2A2C2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93024" y="3227832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E83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[XX%]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8375904" y="384048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EBITDA margin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8640" y="4663440"/>
            <a:ext cx="36118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2A2C2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4828032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E83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[X.X mo]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731520" y="544068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CAC payback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370832" y="4663440"/>
            <a:ext cx="36118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2A2C2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70832" y="4828032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E83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[X.Xx]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4553712" y="544068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LTV / CAC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193024" y="4663440"/>
            <a:ext cx="3611880" cy="1371600"/>
          </a:xfrm>
          <a:prstGeom prst="rect">
            <a:avLst/>
          </a:prstGeom>
          <a:solidFill>
            <a:srgbClr val="2A2C2E"/>
          </a:solidFill>
          <a:ln w="12700">
            <a:solidFill>
              <a:srgbClr val="2A2C2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193024" y="4828032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2A8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[XX%+]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8375904" y="544068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7E6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retention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E8F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Footnote the methodology on every metric. A footnote you write is a diligence call you don't take.</a:t>
            </a:r>
            <a:endParaRPr lang="en-US" sz="10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8E8F9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· FINANCIALS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0058400" y="292608"/>
            <a:ext cx="1581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83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[ 9.2 ]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A2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Multi-Pronged Revenue Model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2651760" cy="2103120"/>
          </a:xfrm>
          <a:prstGeom prst="rect">
            <a:avLst/>
          </a:prstGeom>
          <a:solidFill>
            <a:srgbClr val="FFFFFF"/>
          </a:solidFill>
          <a:ln w="19050">
            <a:solidFill>
              <a:srgbClr val="2A2C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6002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A2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[SUBSCRIPTION]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48640" y="19202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E83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[XX%] of revenue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13232" y="228600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400"/>
              </a:spcAft>
              <a:buSzPct val="100000"/>
              <a:buChar char="▪"/>
            </a:pPr>
            <a:r>
              <a:rPr lang="en-US" sz="900" dirty="0">
                <a:solidFill>
                  <a:srgbClr val="9E8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[How it works]</a:t>
            </a:r>
            <a:endParaRPr lang="en-US" sz="900" dirty="0"/>
          </a:p>
          <a:p>
            <a:pPr marL="127000" indent="-127000">
              <a:spcAft>
                <a:spcPts val="400"/>
              </a:spcAft>
              <a:buSzPct val="100000"/>
              <a:buChar char="▪"/>
            </a:pPr>
            <a:r>
              <a:rPr lang="en-US" sz="900" dirty="0">
                <a:solidFill>
                  <a:srgbClr val="9E8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[How it's priced]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383280" y="1463040"/>
            <a:ext cx="265176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2A2C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0" y="16002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A2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[ADD-ONS]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383280" y="19202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E83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[XX%] of revenue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547872" y="228600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400"/>
              </a:spcAft>
              <a:buSzPct val="100000"/>
              <a:buChar char="▪"/>
            </a:pPr>
            <a:r>
              <a:rPr lang="en-US" sz="900" dirty="0">
                <a:solidFill>
                  <a:srgbClr val="9E8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[How it works]</a:t>
            </a:r>
            <a:endParaRPr lang="en-US" sz="900" dirty="0"/>
          </a:p>
          <a:p>
            <a:pPr marL="127000" indent="-127000">
              <a:spcAft>
                <a:spcPts val="400"/>
              </a:spcAft>
              <a:buSzPct val="100000"/>
              <a:buChar char="▪"/>
            </a:pPr>
            <a:r>
              <a:rPr lang="en-US" sz="900" dirty="0">
                <a:solidFill>
                  <a:srgbClr val="9E8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[How it's priced]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217920" y="1463040"/>
            <a:ext cx="265176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2A2C2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16002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A2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[USAGE / CREDITS]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217920" y="19202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E83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[X%] of revenue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382512" y="228600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400"/>
              </a:spcAft>
              <a:buSzPct val="100000"/>
              <a:buChar char="▪"/>
            </a:pPr>
            <a:r>
              <a:rPr lang="en-US" sz="900" dirty="0">
                <a:solidFill>
                  <a:srgbClr val="9E8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[How it works]</a:t>
            </a:r>
            <a:endParaRPr lang="en-US" sz="900" dirty="0"/>
          </a:p>
          <a:p>
            <a:pPr marL="127000" indent="-127000">
              <a:spcAft>
                <a:spcPts val="400"/>
              </a:spcAft>
              <a:buSzPct val="100000"/>
              <a:buChar char="▪"/>
            </a:pPr>
            <a:r>
              <a:rPr lang="en-US" sz="900" dirty="0">
                <a:solidFill>
                  <a:srgbClr val="9E8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[How it's priced]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9052560" y="1463040"/>
            <a:ext cx="265176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2A2C2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52560" y="16002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A2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[OTHER]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9052560" y="19202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E83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[X%] of revenue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9217152" y="228600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400"/>
              </a:spcAft>
              <a:buSzPct val="100000"/>
              <a:buChar char="▪"/>
            </a:pPr>
            <a:r>
              <a:rPr lang="en-US" sz="900" dirty="0">
                <a:solidFill>
                  <a:srgbClr val="9E8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[How it works]</a:t>
            </a:r>
            <a:endParaRPr lang="en-US" sz="900" dirty="0"/>
          </a:p>
          <a:p>
            <a:pPr marL="127000" indent="-127000">
              <a:spcAft>
                <a:spcPts val="400"/>
              </a:spcAft>
              <a:buSzPct val="100000"/>
              <a:buChar char="▪"/>
            </a:pPr>
            <a:r>
              <a:rPr lang="en-US" sz="900" dirty="0">
                <a:solidFill>
                  <a:srgbClr val="9E8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[How it's priced]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48640" y="37033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E8F9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 plan  →  upsell  →  usage grows with customer success</a:t>
            </a:r>
            <a:endParaRPr lang="en-US" sz="1000" dirty="0"/>
          </a:p>
        </p:txBody>
      </p:sp>
      <p:graphicFrame>
        <p:nvGraphicFramePr>
          <p:cNvPr id="4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206240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926080"/>
                <a:gridCol w="2926080"/>
                <a:gridCol w="2834640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A2C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Stream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A2C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Contract terms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A2C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Cash collection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A2C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Recognition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3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9E83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[Subscription]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9E83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[monthly / annual]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9E83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[up-front invoicing]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9E83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[monthly over term]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9E83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[Add-ons]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9E83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[monthly]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9E83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[up-front]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9E83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[monthly over term]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9E83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[Credits]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9E83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[one-time]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9E83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[up-front]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9E83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[on purchase]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9E83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[Other]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9E83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[rev share]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9E83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[when paid]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9E83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[when paid]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8E8F9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· FINANCIALS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0058400" y="292608"/>
            <a:ext cx="1581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83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[ 9.3 ]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A2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Revenue &amp; Cost Detail</a:t>
            </a:r>
            <a:endParaRPr lang="en-US" sz="2400" dirty="0"/>
          </a:p>
        </p:txBody>
      </p:sp>
      <p:graphicFrame>
        <p:nvGraphicFramePr>
          <p:cNvPr id="4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3749040"/>
                <a:gridCol w="1828800"/>
                <a:gridCol w="1828800"/>
                <a:gridCol w="1828800"/>
                <a:gridCol w="182880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A2C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$k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A2C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[YR-2]A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A2C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[YR-1]A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A2C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[YR]E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A2C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[YR+1]P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9E83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[Channel A]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E83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[X]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E83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[X]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E83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[X]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E83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[X]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9E83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[Channel B]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E83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[X]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E83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[X]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E83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[X]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E83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[X]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9E83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[Other channels]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E83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[X]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E83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[X]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E83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[X]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E83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[X]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9E83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revenue (growth %)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9E83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[X]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9E83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[X (XX%)]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9E83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[X (XX%)]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9E83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[X (XX%)]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611880"/>
          <a:ext cx="11064240" cy="914400"/>
        </p:xfrm>
        <a:graphic>
          <a:graphicData uri="http://schemas.openxmlformats.org/drawingml/2006/table">
            <a:tbl>
              <a:tblPr/>
              <a:tblGrid>
                <a:gridCol w="3749040"/>
                <a:gridCol w="1828800"/>
                <a:gridCol w="1828800"/>
                <a:gridCol w="1828800"/>
                <a:gridCol w="182880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A2C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$k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A2C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[YR-2]A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A2C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[YR-1]A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A2C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[YR]E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A2C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[YR+1]P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9E83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Cost of revenue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E83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[X]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E83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[X]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E83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[X]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E83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[X]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9E83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R&amp;D / S&amp;M / G&amp;A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E83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[X]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E83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[X]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E83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[X]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E83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[X]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9E83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Gross margin 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9E83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[XX%]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9E83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[XX%]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9E83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[XX%]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9E83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[XX%]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5394960"/>
            <a:ext cx="11064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2A2C2E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777240" y="539496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E83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[1] [2] [3]   </a:t>
            </a:r>
            <a:pPr indent="0" marL="0">
              <a:buNone/>
            </a:pPr>
            <a:r>
              <a:rPr lang="en-US" sz="1050" dirty="0">
                <a:solidFill>
                  <a:srgbClr val="2A2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Numbered footnotes on every strategic shift and unusual line: why a channel accelerated, what a fee covers, what changed and when.</a:t>
            </a:r>
            <a:endParaRPr lang="en-US" sz="10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8E8F9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· FINANCIALS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0058400" y="292608"/>
            <a:ext cx="1581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83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[ 9.4 ]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A2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5-Year Forecast &amp; Balance Sheet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10642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2A2C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53619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2A2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 ASSUMPTIONS, PLAIN SENTENCES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731520" y="182880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9E8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[Where growth comes from]   ·   [What you'll spend to get it]   ·   [The margin you'll hold while growing]</a:t>
            </a:r>
            <a:endParaRPr lang="en-US" sz="1000" dirty="0"/>
          </a:p>
        </p:txBody>
      </p:sp>
      <p:graphicFrame>
        <p:nvGraphicFramePr>
          <p:cNvPr id="4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743200"/>
          <a:ext cx="11064240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1280160"/>
                <a:gridCol w="1280160"/>
                <a:gridCol w="1280160"/>
                <a:gridCol w="1280160"/>
                <a:gridCol w="1280160"/>
                <a:gridCol w="128016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A2C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$k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A2C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[YR-1]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A2C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[YR]E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A2C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[+1]P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A2C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[+2]P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A2C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[+3]P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A2C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[+4]P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9E83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Revenue (growth %)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E83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[X]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E83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[X]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E83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[X]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E83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[X]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E83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[X]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E83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[X]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9E83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Gross profit (margin %)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E83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[X]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E83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[X]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E83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[X]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E83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[X]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E83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[X]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E83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[X]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9E83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EBITDA (margin %)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E83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[X]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E83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[X]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E83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[X]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E83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[X]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E83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[X]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E83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[X]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617720"/>
          <a:ext cx="694944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371600"/>
                <a:gridCol w="1371600"/>
                <a:gridCol w="137160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A2C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$k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A2C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[YR-2]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A2C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[YR-1]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A2C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[YR]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9E83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 assets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E83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[X]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E83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[X]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E83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[X]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9E83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 liabilities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E83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[X]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E83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[X]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E83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[X]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9E83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Deferred revenue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E83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[X]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E83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[X]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E83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[X]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7863840" y="4617720"/>
            <a:ext cx="3749040" cy="1554480"/>
          </a:xfrm>
          <a:prstGeom prst="rect">
            <a:avLst/>
          </a:prstGeom>
          <a:solidFill>
            <a:srgbClr val="2A2C2E"/>
          </a:solidFill>
          <a:ln w="12700">
            <a:solidFill>
              <a:srgbClr val="2A2C2E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8092440" y="4617720"/>
            <a:ext cx="3291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7E6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 unaudited figures clearly.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7E6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Conservative assumptions survive negotiation. Aggressive ones become the discount.</a:t>
            </a:r>
            <a:endParaRPr lang="en-US" sz="10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822960"/>
            <a:ext cx="502920" cy="502920"/>
          </a:xfrm>
          <a:prstGeom prst="rect">
            <a:avLst/>
          </a:prstGeom>
          <a:ln w="19050">
            <a:solidFill>
              <a:srgbClr val="C2A87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2377440"/>
            <a:ext cx="10515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Fill in your numbers.</a:t>
            </a:r>
            <a:endParaRPr lang="en-US" sz="40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Win the game.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41248" y="42062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7E6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 is transferable. The numbers are yours to earn.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41248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2A8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life is beta ]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503920" y="59893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E8F9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@lior_pozin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47</Slides>
  <Notes>47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2026-08-03T14:25:53Z</dcterms:created>
  <dcterms:modified xsi:type="dcterms:W3CDTF">2026-08-03T14:25:53Z</dcterms:modified>
</cp:coreProperties>
</file>